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80" r:id="rId3"/>
    <p:sldId id="266" r:id="rId4"/>
    <p:sldId id="278" r:id="rId5"/>
    <p:sldId id="267" r:id="rId6"/>
    <p:sldId id="274" r:id="rId7"/>
    <p:sldId id="276" r:id="rId8"/>
    <p:sldId id="277" r:id="rId9"/>
    <p:sldId id="279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4B3914-868F-4E38-BB04-5E0B8DC7C22D}" v="30" dt="2026-02-28T17:15:38.2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2" autoAdjust="0"/>
    <p:restoredTop sz="94559" autoAdjust="0"/>
  </p:normalViewPr>
  <p:slideViewPr>
    <p:cSldViewPr snapToGrid="0" showGuides="1">
      <p:cViewPr varScale="1">
        <p:scale>
          <a:sx n="84" d="100"/>
          <a:sy n="84" d="100"/>
        </p:scale>
        <p:origin x="70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misha Malleri" userId="1c8886d433a38c6f" providerId="LiveId" clId="{777CF81A-42D8-47A5-A131-14A42423F02A}"/>
    <pc:docChg chg="modSld">
      <pc:chgData name="Nimisha Malleri" userId="1c8886d433a38c6f" providerId="LiveId" clId="{777CF81A-42D8-47A5-A131-14A42423F02A}" dt="2026-02-28T17:21:00.236" v="42" actId="20577"/>
      <pc:docMkLst>
        <pc:docMk/>
      </pc:docMkLst>
      <pc:sldChg chg="modSp mod">
        <pc:chgData name="Nimisha Malleri" userId="1c8886d433a38c6f" providerId="LiveId" clId="{777CF81A-42D8-47A5-A131-14A42423F02A}" dt="2026-02-28T17:20:52.174" v="40" actId="20577"/>
        <pc:sldMkLst>
          <pc:docMk/>
          <pc:sldMk cId="340459751" sldId="256"/>
        </pc:sldMkLst>
        <pc:spChg chg="mod">
          <ac:chgData name="Nimisha Malleri" userId="1c8886d433a38c6f" providerId="LiveId" clId="{777CF81A-42D8-47A5-A131-14A42423F02A}" dt="2026-02-28T17:20:52.174" v="40" actId="20577"/>
          <ac:spMkLst>
            <pc:docMk/>
            <pc:sldMk cId="340459751" sldId="256"/>
            <ac:spMk id="3" creationId="{6FA028DC-049A-2F5E-A96B-81D104E86BBE}"/>
          </ac:spMkLst>
        </pc:spChg>
      </pc:sldChg>
      <pc:sldChg chg="modSp mod">
        <pc:chgData name="Nimisha Malleri" userId="1c8886d433a38c6f" providerId="LiveId" clId="{777CF81A-42D8-47A5-A131-14A42423F02A}" dt="2026-02-28T17:21:00.236" v="42" actId="20577"/>
        <pc:sldMkLst>
          <pc:docMk/>
          <pc:sldMk cId="1243924898" sldId="279"/>
        </pc:sldMkLst>
        <pc:spChg chg="mod">
          <ac:chgData name="Nimisha Malleri" userId="1c8886d433a38c6f" providerId="LiveId" clId="{777CF81A-42D8-47A5-A131-14A42423F02A}" dt="2026-02-28T17:21:00.236" v="42" actId="20577"/>
          <ac:spMkLst>
            <pc:docMk/>
            <pc:sldMk cId="1243924898" sldId="279"/>
            <ac:spMk id="3" creationId="{8B3DA488-75F2-9186-1D02-A747C47DB03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0.0671</cdr:y>
    </cdr:from>
    <cdr:to>
      <cdr:x>1</cdr:x>
      <cdr:y>0.85621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89EB909E-2148-4733-958E-4530DE3883C6}"/>
            </a:ext>
          </a:extLst>
        </cdr:cNvPr>
        <cdr:cNvPicPr>
          <a:picLocks xmlns:a="http://schemas.openxmlformats.org/drawingml/2006/main" noChangeAspect="1"/>
        </cdr:cNvPicPr>
      </cdr:nvPicPr>
      <cdr:blipFill rotWithShape="1"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</a:extLst>
        </a:blip>
        <a:srcRect xmlns:a="http://schemas.openxmlformats.org/drawingml/2006/main" t="21088"/>
        <a:stretch xmlns:a="http://schemas.openxmlformats.org/drawingml/2006/main">
          <a:fillRect/>
        </a:stretch>
      </cdr:blipFill>
      <cdr:spPr>
        <a:xfrm xmlns:a="http://schemas.openxmlformats.org/drawingml/2006/main">
          <a:off x="-2007425" y="256028"/>
          <a:ext cx="7724250" cy="3011024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4737E3-B7EF-C36D-3F40-4539A7E3D4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E193C-EA0C-9D29-0505-F3E10B918A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20A3A-57DF-4E27-A938-C9CB18371920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86EEDC-13CE-28A8-E844-DC63E59B7E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5EE97-51CE-81BD-B5CD-D9814F3824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D7A73-8F03-409A-BE31-6E23BC771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9423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05AD8A-73DF-4EB2-BCCF-08F085C123AA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42390-4565-48BF-B2BF-3ADAF840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17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2390-4565-48BF-B2BF-3ADAF840DD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47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42390-4565-48BF-B2BF-3ADAF840DD9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02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svg"/><Relationship Id="rId11" Type="http://schemas.openxmlformats.org/officeDocument/2006/relationships/image" Target="../media/image2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2D007B-2D23-25BC-3840-8B44EAE5D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836506"/>
            <a:ext cx="9598712" cy="1942536"/>
          </a:xfrm>
        </p:spPr>
        <p:txBody>
          <a:bodyPr anchor="b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05245-A962-B22A-4DDB-C3B335E64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880" y="5108704"/>
            <a:ext cx="9144000" cy="605502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3151259" cy="686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6ABD9-40D7-AA22-F0C1-650D3C21A1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6334744"/>
            <a:ext cx="1725318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59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8D5A62-614B-2D12-4D2F-EBF4440B03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303836C-3920-B8E1-6601-C5C5446B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DB8D-FC27-13BF-343B-91B6E648E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7FC482-F850-8020-F4D8-5B9804E9BE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641A13F-9C9A-7798-CC1C-CE523E7B96E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AA40A-965E-4A63-9800-522E13EED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0655E-9533-1F3E-EE1F-400B7CC42A2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" r="25323" b="911"/>
          <a:stretch/>
        </p:blipFill>
        <p:spPr>
          <a:xfrm>
            <a:off x="0" y="0"/>
            <a:ext cx="12164007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563A23-3EFF-38EB-A383-397C48DB7BBD}"/>
              </a:ext>
            </a:extLst>
          </p:cNvPr>
          <p:cNvSpPr/>
          <p:nvPr userDrawn="1"/>
        </p:nvSpPr>
        <p:spPr>
          <a:xfrm>
            <a:off x="0" y="0"/>
            <a:ext cx="346364" cy="4219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A32BE1-F42E-110C-83BF-0ACBAA7288E6}"/>
              </a:ext>
            </a:extLst>
          </p:cNvPr>
          <p:cNvSpPr/>
          <p:nvPr userDrawn="1"/>
        </p:nvSpPr>
        <p:spPr>
          <a:xfrm>
            <a:off x="0" y="4219720"/>
            <a:ext cx="346364" cy="26382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C126F-E72F-28EC-ED77-1AAD54999D83}"/>
              </a:ext>
            </a:extLst>
          </p:cNvPr>
          <p:cNvCxnSpPr/>
          <p:nvPr userDrawn="1"/>
        </p:nvCxnSpPr>
        <p:spPr>
          <a:xfrm>
            <a:off x="914400" y="6280030"/>
            <a:ext cx="1863306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435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5CB1EB-93F5-153E-4764-E6319385D9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E9C18-36D4-1EE7-007E-6520B516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4AB9D-F129-1D0A-3F18-30A01E3CC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8542C-570A-B982-EE49-D7BE0A03C9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EF8714-2E62-9E33-0635-B316E158EC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914BD-BC5D-E404-E474-87D0704C8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586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7A5C9C-15EB-E01C-A21A-71D8E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D6001B-3DD9-17F0-8DD5-9C726E11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F940-4841-13C0-050D-C893010CE0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A22BF0-4C09-EE31-F1E7-CE5F45A8A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9AE5F-CE26-D80C-F042-86377F8A6D7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22AC294-F3E3-1F24-5352-81AB4060EB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E6FF1-74DD-DB97-8000-750655DC3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93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D3521FE-8074-3AEE-08BB-863228D4A2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4051E9-43BD-C793-F812-C8B2D5C7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0F60C-4123-6B76-0C69-9257E088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28564-DC70-E696-0B34-9B756C5B4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1411CD-ADCF-8C75-C21B-9C8189CDD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2"/>
                </a:solidFill>
                <a:latin typeface="Zilla Slab" pitchFamily="2" charset="0"/>
                <a:ea typeface="Zilla Slab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3D30F-8257-0773-224C-A80FD7DCC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CB09F-AA67-425D-8664-92FF321FB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9773CB4-AA79-2B87-C13D-416A1743F26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1C8CC7-5103-852D-2638-5633A716F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24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190A96-BFCE-EFBD-CCDA-D7646C83B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80C1EC-5C4F-4BB4-1D23-1BB6D97E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C1866-2580-DF83-1482-67DBCC2EA1E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6928A15-0FAE-3D7A-BE88-D42ED256B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3D672C-222C-01AE-E0B6-93D6FE1AB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092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B72897-6F99-23F4-62FA-97B44DE86C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4B1E94-09C1-BD0F-9C7D-EA10237B86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2804975-758F-47E4-93AA-69CA818075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EE3F8D-94C6-6090-7F45-0140F68D9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030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EA1E715-A3C2-1062-72BA-AA6101EFDB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33B173-896D-3270-D196-9EA3CDED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532D-27C9-84A8-A21E-F55F54262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9652A-3B8E-D6FE-0C51-AD79BCB11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6FED96-33F4-AE85-1943-38B458CA6C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6CCEDC5-EC77-FE15-57BB-7AAC4B5333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9DCED4-9B61-CDC1-9F25-4418EED76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339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F93E89-EC43-508C-91D2-FE01949F0ED8}"/>
              </a:ext>
            </a:extLst>
          </p:cNvPr>
          <p:cNvSpPr/>
          <p:nvPr userDrawn="1"/>
        </p:nvSpPr>
        <p:spPr>
          <a:xfrm>
            <a:off x="5076825" y="885825"/>
            <a:ext cx="6275387" cy="49831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C8168B-13D2-605D-EF13-8460F4341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864C21-F58A-694E-BDDF-DDA23E0F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5008F3-14EF-C275-5009-54A6C0948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065837" cy="4737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28B4C-F206-DE18-A860-B2259AF8D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8718"/>
            <a:ext cx="3932237" cy="429026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0AA15-91AB-ED53-47E2-7B26433444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2B2FDC-3E39-80E3-47A9-F14E0B22DB6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A1E7417-7698-6DAD-F799-E94ADF9A9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20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768AD05-1982-0DF0-DB84-69992E3B4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0D3381-9A33-CDE6-A465-39D508AD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21791-0209-93DE-4383-04DAF6645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07BB1-3659-8D23-FA89-EA4F4D60D67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A12D315-2DC9-AE52-4820-DBFE1FD82A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BA133-188F-1018-3011-9894D2759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365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6172AF-7DA8-B4AB-77FD-93C3CDDBF7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135" y="0"/>
            <a:ext cx="435865" cy="432817"/>
          </a:xfrm>
          <a:prstGeom prst="rect">
            <a:avLst/>
          </a:prstGeom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514317-5D4A-3C1D-4027-E4A77FCE8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E6995-F9A4-0689-FA08-AC65CBECF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AF2B0-44DA-FC23-665D-75C23412D4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02" y="6356350"/>
            <a:ext cx="1725318" cy="3657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EBA1BCB-5D76-4F42-E4D9-407309BC6F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3800" y="5986785"/>
            <a:ext cx="539470" cy="617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CA00D-4A52-8A7A-BE74-13E98B5DA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537" y="39525"/>
            <a:ext cx="539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94599A10-5031-416A-8935-40C3BCBA0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876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121B6C1D-9A58-FCFD-FC59-B83B334775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796"/>
            <a:ext cx="12192000" cy="685799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C00A59F-5699-FFEC-05E4-084B9D01F5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362" y="3032254"/>
            <a:ext cx="342035" cy="376238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72AEE09-A5AD-AA06-48E6-898E033BA94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779" y="3926565"/>
            <a:ext cx="307200" cy="384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01C56E0-4FF4-A49E-65BE-5A1BF232E4D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0775" y="4758611"/>
            <a:ext cx="405209" cy="405209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CDEF55D3-82EA-2BAF-B8BF-6C8795BCED9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9779" y="5676372"/>
            <a:ext cx="3172854" cy="3760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E589B6-88B9-49D6-0916-921E66203BF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" y="1041399"/>
            <a:ext cx="4760571" cy="1037560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59A0B0B-6155-1E7E-4087-A0497CBDBD27}"/>
              </a:ext>
            </a:extLst>
          </p:cNvPr>
          <p:cNvSpPr txBox="1">
            <a:spLocks/>
          </p:cNvSpPr>
          <p:nvPr userDrawn="1"/>
        </p:nvSpPr>
        <p:spPr>
          <a:xfrm>
            <a:off x="1628774" y="3921043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0731 3111500, 0731 3111501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C9BAA4C-4941-92F4-0508-9A086B1782D0}"/>
              </a:ext>
            </a:extLst>
          </p:cNvPr>
          <p:cNvSpPr txBox="1">
            <a:spLocks/>
          </p:cNvSpPr>
          <p:nvPr userDrawn="1"/>
        </p:nvSpPr>
        <p:spPr>
          <a:xfrm>
            <a:off x="1628774" y="4797553"/>
            <a:ext cx="8407400" cy="40520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www.medicaps.ac.in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A505A0EF-09C3-A69E-1757-50EC79E03CA8}"/>
              </a:ext>
            </a:extLst>
          </p:cNvPr>
          <p:cNvSpPr txBox="1">
            <a:spLocks/>
          </p:cNvSpPr>
          <p:nvPr userDrawn="1"/>
        </p:nvSpPr>
        <p:spPr>
          <a:xfrm>
            <a:off x="1628774" y="3030245"/>
            <a:ext cx="8460106" cy="3639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A.B. Road, </a:t>
            </a:r>
            <a:r>
              <a:rPr lang="en-US" dirty="0" err="1">
                <a:solidFill>
                  <a:schemeClr val="tx1"/>
                </a:solidFill>
              </a:rPr>
              <a:t>Pigdamber</a:t>
            </a:r>
            <a:r>
              <a:rPr lang="en-US" dirty="0">
                <a:solidFill>
                  <a:schemeClr val="tx1"/>
                </a:solidFill>
              </a:rPr>
              <a:t>, Rau, Indore – 453331 </a:t>
            </a:r>
          </a:p>
        </p:txBody>
      </p:sp>
    </p:spTree>
    <p:extLst>
      <p:ext uri="{BB962C8B-B14F-4D97-AF65-F5344CB8AC3E}">
        <p14:creationId xmlns:p14="http://schemas.microsoft.com/office/powerpoint/2010/main" val="168291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0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2AB9EE-315E-A59D-7C69-7297198B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CD9C6-79F7-5E4F-5997-18FD9FB86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6A633-AE6E-E900-F6C6-2A97DCD18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F33C2-41D7-CC19-A386-62E89AE35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F264C-5B54-0AB1-A4A1-B9DE1C365F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99A10-5031-416A-8935-40C3BCBA0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1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suggestions@medicaps.ac.i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A047D-7384-7188-237B-A0D05A205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3906370"/>
            <a:ext cx="5624008" cy="872671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Service Case Management using Salesforce, OCR &amp; AI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028DC-049A-2F5E-A96B-81D104E86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880" y="4573245"/>
            <a:ext cx="9144000" cy="605502"/>
          </a:xfrm>
        </p:spPr>
        <p:txBody>
          <a:bodyPr/>
          <a:lstStyle/>
          <a:p>
            <a:r>
              <a:rPr lang="en-US" dirty="0"/>
              <a:t>BY: PRIYAL BAHETY(EN22IT301072)</a:t>
            </a:r>
          </a:p>
        </p:txBody>
      </p:sp>
    </p:spTree>
    <p:extLst>
      <p:ext uri="{BB962C8B-B14F-4D97-AF65-F5344CB8AC3E}">
        <p14:creationId xmlns:p14="http://schemas.microsoft.com/office/powerpoint/2010/main" val="34045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80" y="491033"/>
            <a:ext cx="4463951" cy="55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75"/>
              </a:lnSpc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24880" y="2082205"/>
            <a:ext cx="3395663" cy="1690093"/>
          </a:xfrm>
          <a:prstGeom prst="roundRect">
            <a:avLst>
              <a:gd name="adj" fmla="val 721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9480" y="2082205"/>
            <a:ext cx="101600" cy="1690093"/>
          </a:xfrm>
          <a:prstGeom prst="roundRect">
            <a:avLst>
              <a:gd name="adj" fmla="val 73814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904974" y="2286099"/>
            <a:ext cx="2911673" cy="558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Service Automation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04974" y="3012778"/>
            <a:ext cx="2911673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7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Streamlining service requests for appliance issues.</a:t>
            </a:r>
            <a:endParaRPr lang="en-US" sz="1375" dirty="0"/>
          </a:p>
        </p:txBody>
      </p:sp>
      <p:sp>
        <p:nvSpPr>
          <p:cNvPr id="7" name="Shape 5"/>
          <p:cNvSpPr/>
          <p:nvPr/>
        </p:nvSpPr>
        <p:spPr>
          <a:xfrm>
            <a:off x="4189214" y="2082205"/>
            <a:ext cx="3395663" cy="1690093"/>
          </a:xfrm>
          <a:prstGeom prst="roundRect">
            <a:avLst>
              <a:gd name="adj" fmla="val 721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63814" y="2082205"/>
            <a:ext cx="101600" cy="1690093"/>
          </a:xfrm>
          <a:prstGeom prst="roundRect">
            <a:avLst>
              <a:gd name="adj" fmla="val 73814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4469309" y="2286099"/>
            <a:ext cx="2413893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Multi-format Handling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469309" y="2733774"/>
            <a:ext cx="2911673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7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incoming emails with images and PDF attachments.</a:t>
            </a:r>
            <a:endParaRPr lang="en-US" sz="1375" dirty="0"/>
          </a:p>
        </p:txBody>
      </p:sp>
      <p:sp>
        <p:nvSpPr>
          <p:cNvPr id="11" name="Shape 9"/>
          <p:cNvSpPr/>
          <p:nvPr/>
        </p:nvSpPr>
        <p:spPr>
          <a:xfrm>
            <a:off x="624880" y="3940969"/>
            <a:ext cx="3395663" cy="1688902"/>
          </a:xfrm>
          <a:prstGeom prst="roundRect">
            <a:avLst>
              <a:gd name="adj" fmla="val 7219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9480" y="3940969"/>
            <a:ext cx="101600" cy="1688902"/>
          </a:xfrm>
          <a:prstGeom prst="roundRect">
            <a:avLst>
              <a:gd name="adj" fmla="val 73814"/>
            </a:avLst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04975" y="4144864"/>
            <a:ext cx="2644279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Integrated Technologies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04974" y="4592539"/>
            <a:ext cx="2911673" cy="833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7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Salesforce, Optical Character Recognition (OCR), and Artificial Intelligence (AI).</a:t>
            </a:r>
            <a:endParaRPr lang="en-US" sz="1375" dirty="0"/>
          </a:p>
        </p:txBody>
      </p:sp>
      <p:sp>
        <p:nvSpPr>
          <p:cNvPr id="15" name="Shape 13"/>
          <p:cNvSpPr/>
          <p:nvPr/>
        </p:nvSpPr>
        <p:spPr>
          <a:xfrm>
            <a:off x="4189214" y="3940969"/>
            <a:ext cx="3395663" cy="1688902"/>
          </a:xfrm>
          <a:prstGeom prst="roundRect">
            <a:avLst>
              <a:gd name="adj" fmla="val 7219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3814" y="3940969"/>
            <a:ext cx="101600" cy="1688902"/>
          </a:xfrm>
          <a:prstGeom prst="roundRect">
            <a:avLst>
              <a:gd name="adj" fmla="val 73814"/>
            </a:avLst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4469309" y="4144864"/>
            <a:ext cx="2231926" cy="279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Efficiency Boost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469309" y="4592538"/>
            <a:ext cx="2911673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37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Significantly reduces manual effort in case management.</a:t>
            </a:r>
            <a:endParaRPr lang="en-US" sz="1375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797" y="1491655"/>
            <a:ext cx="3546574" cy="47287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7A31D-4DE5-8F69-503B-249C007B6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9375B-2534-304A-7D8C-E82799F31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BUSINESS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ADF3-314D-3F64-4D25-BE54C4546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Manual Case Creation: 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Inefficient process for converting emails into service cases.</a:t>
            </a:r>
            <a:endParaRPr lang="en-US" sz="2400" dirty="0"/>
          </a:p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Manual Document Review: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Time-consuming review of images and PDFs for critical information</a:t>
            </a:r>
            <a:endParaRPr lang="en-US" sz="2400" dirty="0"/>
          </a:p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Lack of </a:t>
            </a:r>
            <a:r>
              <a:rPr lang="en-US" sz="2400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Auto-Classification:</a:t>
            </a:r>
            <a:r>
              <a:rPr lang="en-US" sz="240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Absence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automated systems to categorize cases effectively.</a:t>
            </a:r>
            <a:endParaRPr lang="en-US" sz="2400" dirty="0"/>
          </a:p>
          <a:p>
            <a:pPr>
              <a:lnSpc>
                <a:spcPct val="100000"/>
              </a:lnSpc>
              <a:buBlip>
                <a:blip r:embed="rId2"/>
              </a:buBlip>
            </a:pPr>
            <a:r>
              <a:rPr lang="en-US" sz="2400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Delayed Responses &amp; </a:t>
            </a:r>
            <a:r>
              <a:rPr lang="en-US" sz="2400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Risks</a:t>
            </a:r>
            <a:r>
              <a:rPr lang="en-US" sz="2600" dirty="0" err="1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:</a:t>
            </a:r>
            <a:r>
              <a:rPr lang="en-US" sz="2400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Increased</a:t>
            </a:r>
            <a:r>
              <a:rPr lang="en-US" sz="24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response times leading to potential Service Level Agreement (SLA) breaches.</a:t>
            </a: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30EAE-A411-EFB2-DE98-4C280900D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B34C24-32D7-F65D-4FFB-A7F109971889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722F9B2-52E7-86E5-088F-AB3D6B8C5033}"/>
              </a:ext>
            </a:extLst>
          </p:cNvPr>
          <p:cNvCxnSpPr>
            <a:cxnSpLocks/>
          </p:cNvCxnSpPr>
          <p:nvPr/>
        </p:nvCxnSpPr>
        <p:spPr>
          <a:xfrm>
            <a:off x="4336211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257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9C8F5-2145-DEEF-F356-46206CF31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038C-FF73-339E-268C-262BBED2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92523-01BB-3FBC-8D59-67EED1E53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Case Creation 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Email-to-Case for seamless case generation.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OCR-Powered Data Extraction: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relevant text from various document formats (images, PDFs).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Salesforce Data Integration: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all extracted OCR data directly within Salesforce records.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AI-Driven Classification: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AI for accurate case categorization and priority assignment.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Reduced Manual Effort: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 human intervention in routine case management task.</a:t>
            </a:r>
            <a:endParaRPr lang="en-US" sz="2000" dirty="0"/>
          </a:p>
          <a:p>
            <a:pPr>
              <a:lnSpc>
                <a:spcPct val="150000"/>
              </a:lnSpc>
              <a:buBlip>
                <a:blip r:embed="rId2"/>
              </a:buBlip>
            </a:pPr>
            <a:endParaRPr lang="en-US" sz="2000" dirty="0"/>
          </a:p>
          <a:p>
            <a:pPr>
              <a:buBlip>
                <a:blip r:embed="rId2"/>
              </a:buBlip>
            </a:pPr>
            <a:endParaRPr lang="en-US" sz="2000" dirty="0"/>
          </a:p>
          <a:p>
            <a:pPr>
              <a:buBlip>
                <a:blip r:embed="rId2"/>
              </a:buBlip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AEC1E-B579-65D0-8FF0-FB9B3C978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2C5F86-133B-A755-E799-07891E958224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20C357-7464-A08E-2006-96611DEFD8F7}"/>
              </a:ext>
            </a:extLst>
          </p:cNvPr>
          <p:cNvCxnSpPr>
            <a:cxnSpLocks/>
          </p:cNvCxnSpPr>
          <p:nvPr/>
        </p:nvCxnSpPr>
        <p:spPr>
          <a:xfrm>
            <a:off x="4336211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33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91FA66-E9DF-2AA8-A18B-8A399F33E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480" y="1060498"/>
            <a:ext cx="10845038" cy="47181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17927-F2CB-A19D-E1DB-1848D5C0A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62AC04-DF4D-1C83-8FA4-334650D9C44B}"/>
              </a:ext>
            </a:extLst>
          </p:cNvPr>
          <p:cNvSpPr txBox="1"/>
          <p:nvPr/>
        </p:nvSpPr>
        <p:spPr>
          <a:xfrm>
            <a:off x="570345" y="404650"/>
            <a:ext cx="6307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END TO END ARCHITECTURAL FLOW</a:t>
            </a:r>
          </a:p>
        </p:txBody>
      </p:sp>
    </p:spTree>
    <p:extLst>
      <p:ext uri="{BB962C8B-B14F-4D97-AF65-F5344CB8AC3E}">
        <p14:creationId xmlns:p14="http://schemas.microsoft.com/office/powerpoint/2010/main" val="3773077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240F6-4A4F-1568-4FDE-8AEBF7EF1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20D3B-941D-5101-2A51-BB74E81AA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DFCAF8C-3195-8F48-34E9-F709FCC81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7805"/>
            <a:ext cx="8126083" cy="956891"/>
          </a:xfrm>
        </p:spPr>
        <p:txBody>
          <a:bodyPr>
            <a:noAutofit/>
          </a:bodyPr>
          <a:lstStyle/>
          <a:p>
            <a:r>
              <a:rPr lang="en-US" sz="3600" dirty="0"/>
              <a:t>AI AND OCR WORKING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8CFE02-1512-BEEE-6D1F-F91B7E45585E}"/>
              </a:ext>
            </a:extLst>
          </p:cNvPr>
          <p:cNvCxnSpPr>
            <a:cxnSpLocks/>
          </p:cNvCxnSpPr>
          <p:nvPr/>
        </p:nvCxnSpPr>
        <p:spPr>
          <a:xfrm>
            <a:off x="9144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9E4DB2-05FC-242E-6807-3B995F9F76B5}"/>
              </a:ext>
            </a:extLst>
          </p:cNvPr>
          <p:cNvCxnSpPr>
            <a:cxnSpLocks/>
          </p:cNvCxnSpPr>
          <p:nvPr/>
        </p:nvCxnSpPr>
        <p:spPr>
          <a:xfrm>
            <a:off x="43885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B1075B5-33DD-32C1-4870-2AD58AA0D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3" t="16405" r="1"/>
          <a:stretch>
            <a:fillRect/>
          </a:stretch>
        </p:blipFill>
        <p:spPr>
          <a:xfrm>
            <a:off x="603504" y="1801371"/>
            <a:ext cx="10558160" cy="412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2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5822-10BE-BBB3-A52D-752A7689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83048-3A12-CBB8-1445-9C48F46A6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C101C6B-7B3A-C632-79E3-1C876834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2" y="149525"/>
            <a:ext cx="10515600" cy="1160655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r>
              <a:rPr lang="en-US" sz="3600" i="0" u="none" strike="noStrike" dirty="0">
                <a:solidFill>
                  <a:srgbClr val="A32837"/>
                </a:solidFill>
                <a:effectLst/>
              </a:rPr>
              <a:t>EXAMPLE USE CASE</a:t>
            </a:r>
            <a:br>
              <a:rPr lang="en-US" sz="3600" dirty="0">
                <a:effectLst/>
              </a:rPr>
            </a:br>
            <a:br>
              <a:rPr lang="en-US" sz="3600" dirty="0"/>
            </a:br>
            <a:endParaRPr lang="en-US" sz="3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3ADFF6-142B-9E8C-5FAB-A581375E26E6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E49F4E9-4931-D477-01F5-9E954F7C67DF}"/>
              </a:ext>
            </a:extLst>
          </p:cNvPr>
          <p:cNvCxnSpPr>
            <a:cxnSpLocks/>
          </p:cNvCxnSpPr>
          <p:nvPr/>
        </p:nvCxnSpPr>
        <p:spPr>
          <a:xfrm>
            <a:off x="43123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3CA98D02-1E0E-2EC6-E62A-45AC4CBC34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9149004"/>
              </p:ext>
            </p:extLst>
          </p:nvPr>
        </p:nvGraphicFramePr>
        <p:xfrm>
          <a:off x="1527048" y="1819659"/>
          <a:ext cx="8595359" cy="4636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75785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57D3-25AD-0408-DBCA-D9D30E00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3A3F9-475F-225B-787C-73E5107EF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A1E9D22-4659-A1D3-9F04-D6A210BEA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2" y="149525"/>
            <a:ext cx="10515600" cy="1160655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br>
              <a:rPr lang="en-US" sz="3600" i="0" u="none" strike="noStrike" dirty="0">
                <a:solidFill>
                  <a:srgbClr val="A32837"/>
                </a:solidFill>
                <a:effectLst/>
              </a:rPr>
            </a:br>
            <a:r>
              <a:rPr lang="en-US" sz="3600" i="0" u="none" strike="noStrike" dirty="0">
                <a:solidFill>
                  <a:srgbClr val="A32837"/>
                </a:solidFill>
                <a:effectLst/>
              </a:rPr>
              <a:t>TOOLS BENIFITS AND OUTCOME</a:t>
            </a:r>
            <a:br>
              <a:rPr lang="en-US" sz="3600" dirty="0">
                <a:effectLst/>
              </a:rPr>
            </a:br>
            <a:br>
              <a:rPr lang="en-US" sz="3600" dirty="0"/>
            </a:br>
            <a:endParaRPr lang="en-US" sz="3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6852D-0C67-55E0-B62D-835C0A56E7FD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18F792-6705-BC26-C7B2-4C2C8114B1E4}"/>
              </a:ext>
            </a:extLst>
          </p:cNvPr>
          <p:cNvCxnSpPr>
            <a:cxnSpLocks/>
          </p:cNvCxnSpPr>
          <p:nvPr/>
        </p:nvCxnSpPr>
        <p:spPr>
          <a:xfrm>
            <a:off x="43123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1B85AB6-DFB2-1698-6C19-26F786E37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29" y="1897438"/>
            <a:ext cx="11461378" cy="388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544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2700-31C1-F6E4-4BF3-668D250F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5987F-1D74-4646-DC9C-9088DD888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4599A10-5031-416A-8935-40C3BCBA0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5C7683-34CE-BE62-BCAF-70C3F16F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622" y="673962"/>
            <a:ext cx="3706907" cy="664682"/>
          </a:xfrm>
        </p:spPr>
        <p:txBody>
          <a:bodyPr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800" i="0" u="none" strike="noStrike" dirty="0">
                <a:solidFill>
                  <a:srgbClr val="A32837"/>
                </a:solidFill>
                <a:effectLst/>
              </a:rPr>
              <a:t>Thank You!</a:t>
            </a:r>
            <a:endParaRPr lang="en-US" sz="48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F718C2-37F5-1210-38ED-D70A376E8BE5}"/>
              </a:ext>
            </a:extLst>
          </p:cNvPr>
          <p:cNvCxnSpPr>
            <a:cxnSpLocks/>
          </p:cNvCxnSpPr>
          <p:nvPr/>
        </p:nvCxnSpPr>
        <p:spPr>
          <a:xfrm>
            <a:off x="838200" y="1495245"/>
            <a:ext cx="3498011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13CB39-7A1C-41DE-AC01-301A5E16497D}"/>
              </a:ext>
            </a:extLst>
          </p:cNvPr>
          <p:cNvCxnSpPr>
            <a:cxnSpLocks/>
          </p:cNvCxnSpPr>
          <p:nvPr/>
        </p:nvCxnSpPr>
        <p:spPr>
          <a:xfrm>
            <a:off x="4312307" y="1495245"/>
            <a:ext cx="276026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DA488-75F2-9186-1D02-A747C47DB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+mj-lt"/>
              </a:rPr>
              <a:t>For any query/suggestions pls mail us at </a:t>
            </a:r>
            <a:endParaRPr lang="en-US" sz="3200" b="0" dirty="0">
              <a:effectLst/>
              <a:latin typeface="+mj-lt"/>
            </a:endParaRPr>
          </a:p>
          <a:p>
            <a:pPr mar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sng" strike="noStrike" dirty="0">
                <a:solidFill>
                  <a:srgbClr val="000000"/>
                </a:solidFill>
                <a:effectLst/>
                <a:latin typeface="+mj-lt"/>
                <a:hlinkClick r:id="rId2"/>
              </a:rPr>
              <a:t>en22it301072@medicaps.ac.in</a:t>
            </a:r>
            <a:endParaRPr lang="en-US" sz="3200" b="0" dirty="0">
              <a:effectLst/>
              <a:latin typeface="+mj-lt"/>
            </a:endParaRPr>
          </a:p>
          <a:p>
            <a:pPr marL="0" indent="0">
              <a:buNone/>
            </a:pPr>
            <a:br>
              <a:rPr lang="en-US" sz="4000" dirty="0">
                <a:latin typeface="+mj-lt"/>
              </a:rPr>
            </a:br>
            <a:endParaRPr lang="en-US" sz="4000" dirty="0">
              <a:latin typeface="+mj-lt"/>
            </a:endParaRPr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  <a:p>
            <a:pPr marL="0" indent="0">
              <a:buNone/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243924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603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ysClr val="window" lastClr="FFFFFF"/>
      </a:lt1>
      <a:dk2>
        <a:srgbClr val="293786"/>
      </a:dk2>
      <a:lt2>
        <a:srgbClr val="A21D2E"/>
      </a:lt2>
      <a:accent1>
        <a:srgbClr val="A6AFE4"/>
      </a:accent1>
      <a:accent2>
        <a:srgbClr val="F4BEC4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dicaps">
      <a:majorFont>
        <a:latin typeface="Metropolis Semi Bold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" id="{617A8B78-F622-4C57-A45F-FE0E80141807}" vid="{1E4079A0-7BD4-493D-B6C3-8779881B8C2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 (1)</Template>
  <TotalTime>47</TotalTime>
  <Words>252</Words>
  <Application>Microsoft Office PowerPoint</Application>
  <PresentationFormat>Widescreen</PresentationFormat>
  <Paragraphs>51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Inter</vt:lpstr>
      <vt:lpstr>Inter Bold</vt:lpstr>
      <vt:lpstr>Metropolis</vt:lpstr>
      <vt:lpstr>Metropolis Semi Bold</vt:lpstr>
      <vt:lpstr>Zilla Slab</vt:lpstr>
      <vt:lpstr>Office Theme</vt:lpstr>
      <vt:lpstr>Automated Service Case Management using Salesforce, OCR &amp; AI </vt:lpstr>
      <vt:lpstr>PowerPoint Presentation</vt:lpstr>
      <vt:lpstr>THE BUSINESS PROBLEM </vt:lpstr>
      <vt:lpstr>PROJECT OBJECTIVE</vt:lpstr>
      <vt:lpstr>PowerPoint Presentation</vt:lpstr>
      <vt:lpstr>AI AND OCR WORKING</vt:lpstr>
      <vt:lpstr>  EXAMPLE USE CASE  </vt:lpstr>
      <vt:lpstr>  TOOLS BENIFITS AND OUTCOME  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Nimisha Malleri</dc:creator>
  <cp:lastModifiedBy>Nimisha Malleri</cp:lastModifiedBy>
  <cp:revision>2</cp:revision>
  <dcterms:created xsi:type="dcterms:W3CDTF">2026-02-28T16:34:02Z</dcterms:created>
  <dcterms:modified xsi:type="dcterms:W3CDTF">2026-02-28T17:21:06Z</dcterms:modified>
</cp:coreProperties>
</file>