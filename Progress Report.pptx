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6" r:id="rId2"/>
    <p:sldId id="280" r:id="rId3"/>
    <p:sldId id="278" r:id="rId4"/>
    <p:sldId id="267" r:id="rId5"/>
    <p:sldId id="274" r:id="rId6"/>
    <p:sldId id="282" r:id="rId7"/>
    <p:sldId id="283" r:id="rId8"/>
    <p:sldId id="284" r:id="rId9"/>
    <p:sldId id="285" r:id="rId10"/>
    <p:sldId id="286" r:id="rId11"/>
    <p:sldId id="279"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82" autoAdjust="0"/>
    <p:restoredTop sz="90941" autoAdjust="0"/>
  </p:normalViewPr>
  <p:slideViewPr>
    <p:cSldViewPr snapToGrid="0" showGuides="1">
      <p:cViewPr varScale="1">
        <p:scale>
          <a:sx n="83" d="100"/>
          <a:sy n="83" d="100"/>
        </p:scale>
        <p:origin x="734" y="72"/>
      </p:cViewPr>
      <p:guideLst>
        <p:guide orient="horz" pos="2160"/>
        <p:guide pos="3840"/>
      </p:guideLst>
    </p:cSldViewPr>
  </p:slideViewPr>
  <p:notesTextViewPr>
    <p:cViewPr>
      <p:scale>
        <a:sx n="1" d="1"/>
        <a:sy n="1" d="1"/>
      </p:scale>
      <p:origin x="0" y="0"/>
    </p:cViewPr>
  </p:notesTextViewPr>
  <p:notesViewPr>
    <p:cSldViewPr snapToGrid="0" showGuides="1">
      <p:cViewPr varScale="1">
        <p:scale>
          <a:sx n="62" d="100"/>
          <a:sy n="62"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misha Malleri" userId="1c8886d433a38c6f" providerId="LiveId" clId="{777CF81A-42D8-47A5-A131-14A42423F02A}"/>
    <pc:docChg chg="modSld">
      <pc:chgData name="Nimisha Malleri" userId="1c8886d433a38c6f" providerId="LiveId" clId="{777CF81A-42D8-47A5-A131-14A42423F02A}" dt="2026-04-08T06:53:11.738" v="35" actId="20577"/>
      <pc:docMkLst>
        <pc:docMk/>
      </pc:docMkLst>
      <pc:sldChg chg="modSp mod">
        <pc:chgData name="Nimisha Malleri" userId="1c8886d433a38c6f" providerId="LiveId" clId="{777CF81A-42D8-47A5-A131-14A42423F02A}" dt="2026-04-08T06:53:02.703" v="33" actId="20577"/>
        <pc:sldMkLst>
          <pc:docMk/>
          <pc:sldMk cId="340459751" sldId="256"/>
        </pc:sldMkLst>
        <pc:spChg chg="mod">
          <ac:chgData name="Nimisha Malleri" userId="1c8886d433a38c6f" providerId="LiveId" clId="{777CF81A-42D8-47A5-A131-14A42423F02A}" dt="2026-04-08T06:53:02.703" v="33" actId="20577"/>
          <ac:spMkLst>
            <pc:docMk/>
            <pc:sldMk cId="340459751" sldId="256"/>
            <ac:spMk id="3" creationId="{6FA028DC-049A-2F5E-A96B-81D104E86BBE}"/>
          </ac:spMkLst>
        </pc:spChg>
      </pc:sldChg>
      <pc:sldChg chg="modSp mod">
        <pc:chgData name="Nimisha Malleri" userId="1c8886d433a38c6f" providerId="LiveId" clId="{777CF81A-42D8-47A5-A131-14A42423F02A}" dt="2026-04-08T06:53:11.738" v="35" actId="20577"/>
        <pc:sldMkLst>
          <pc:docMk/>
          <pc:sldMk cId="1243924898" sldId="279"/>
        </pc:sldMkLst>
        <pc:spChg chg="mod">
          <ac:chgData name="Nimisha Malleri" userId="1c8886d433a38c6f" providerId="LiveId" clId="{777CF81A-42D8-47A5-A131-14A42423F02A}" dt="2026-04-08T06:53:11.738" v="35" actId="20577"/>
          <ac:spMkLst>
            <pc:docMk/>
            <pc:sldMk cId="1243924898" sldId="279"/>
            <ac:spMk id="3" creationId="{8B3DA488-75F2-9186-1D02-A747C47DB03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84737E3-B7EF-C36D-3F40-4539A7E3D4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AE193C-EA0C-9D29-0505-F3E10B918A8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120A3A-57DF-4E27-A938-C9CB18371920}" type="datetimeFigureOut">
              <a:rPr lang="en-US" smtClean="0"/>
              <a:t>5/7/2026</a:t>
            </a:fld>
            <a:endParaRPr lang="en-US"/>
          </a:p>
        </p:txBody>
      </p:sp>
      <p:sp>
        <p:nvSpPr>
          <p:cNvPr id="4" name="Footer Placeholder 3">
            <a:extLst>
              <a:ext uri="{FF2B5EF4-FFF2-40B4-BE49-F238E27FC236}">
                <a16:creationId xmlns:a16="http://schemas.microsoft.com/office/drawing/2014/main" id="{4386EEDC-13CE-28A8-E844-DC63E59B7E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C35EE97-51CE-81BD-B5CD-D9814F3824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0D7A73-8F03-409A-BE31-6E23BC7710C5}" type="slidenum">
              <a:rPr lang="en-US" smtClean="0"/>
              <a:t>‹#›</a:t>
            </a:fld>
            <a:endParaRPr lang="en-US"/>
          </a:p>
        </p:txBody>
      </p:sp>
    </p:spTree>
    <p:extLst>
      <p:ext uri="{BB962C8B-B14F-4D97-AF65-F5344CB8AC3E}">
        <p14:creationId xmlns:p14="http://schemas.microsoft.com/office/powerpoint/2010/main" val="118059423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05AD8A-73DF-4EB2-BCCF-08F085C123AA}" type="datetimeFigureOut">
              <a:rPr lang="en-US" smtClean="0"/>
              <a:t>5/7/2026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42390-4565-48BF-B2BF-3ADAF840DD91}" type="slidenum">
              <a:rPr lang="en-US" smtClean="0"/>
              <a:t>‹#›</a:t>
            </a:fld>
            <a:endParaRPr lang="en-US"/>
          </a:p>
        </p:txBody>
      </p:sp>
    </p:spTree>
    <p:extLst>
      <p:ext uri="{BB962C8B-B14F-4D97-AF65-F5344CB8AC3E}">
        <p14:creationId xmlns:p14="http://schemas.microsoft.com/office/powerpoint/2010/main" val="544017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242390-4565-48BF-B2BF-3ADAF840DD91}" type="slidenum">
              <a:rPr lang="en-US" smtClean="0"/>
              <a:t>1</a:t>
            </a:fld>
            <a:endParaRPr lang="en-US"/>
          </a:p>
        </p:txBody>
      </p:sp>
    </p:spTree>
    <p:extLst>
      <p:ext uri="{BB962C8B-B14F-4D97-AF65-F5344CB8AC3E}">
        <p14:creationId xmlns:p14="http://schemas.microsoft.com/office/powerpoint/2010/main" val="2768547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42390-4565-48BF-B2BF-3ADAF840DD91}" type="slidenum">
              <a:rPr lang="en-US" smtClean="0"/>
              <a:t>5</a:t>
            </a:fld>
            <a:endParaRPr lang="en-US"/>
          </a:p>
        </p:txBody>
      </p:sp>
    </p:spTree>
    <p:extLst>
      <p:ext uri="{BB962C8B-B14F-4D97-AF65-F5344CB8AC3E}">
        <p14:creationId xmlns:p14="http://schemas.microsoft.com/office/powerpoint/2010/main" val="3503702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42390-4565-48BF-B2BF-3ADAF840DD91}" type="slidenum">
              <a:rPr lang="en-US" smtClean="0"/>
              <a:t>6</a:t>
            </a:fld>
            <a:endParaRPr lang="en-US"/>
          </a:p>
        </p:txBody>
      </p:sp>
    </p:spTree>
    <p:extLst>
      <p:ext uri="{BB962C8B-B14F-4D97-AF65-F5344CB8AC3E}">
        <p14:creationId xmlns:p14="http://schemas.microsoft.com/office/powerpoint/2010/main" val="42233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09DEB-E92B-6266-66BA-EFAB9FE13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401F8-9405-E9C8-93F1-032F4DB756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1C68A4-1B2C-6702-2A96-F16A9550F3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F0A1358-87D9-898D-75A6-B8ED77EA8705}"/>
              </a:ext>
            </a:extLst>
          </p:cNvPr>
          <p:cNvSpPr>
            <a:spLocks noGrp="1"/>
          </p:cNvSpPr>
          <p:nvPr>
            <p:ph type="sldNum" sz="quarter" idx="5"/>
          </p:nvPr>
        </p:nvSpPr>
        <p:spPr/>
        <p:txBody>
          <a:bodyPr/>
          <a:lstStyle/>
          <a:p>
            <a:fld id="{57242390-4565-48BF-B2BF-3ADAF840DD91}" type="slidenum">
              <a:rPr lang="en-US" smtClean="0"/>
              <a:t>7</a:t>
            </a:fld>
            <a:endParaRPr lang="en-US"/>
          </a:p>
        </p:txBody>
      </p:sp>
    </p:spTree>
    <p:extLst>
      <p:ext uri="{BB962C8B-B14F-4D97-AF65-F5344CB8AC3E}">
        <p14:creationId xmlns:p14="http://schemas.microsoft.com/office/powerpoint/2010/main" val="23839547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21B6C1D-9A58-FCFD-FC59-B83B334775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D82D007B-2D23-25BC-3840-8B44EAE5DA72}"/>
              </a:ext>
            </a:extLst>
          </p:cNvPr>
          <p:cNvSpPr>
            <a:spLocks noGrp="1"/>
          </p:cNvSpPr>
          <p:nvPr>
            <p:ph type="ctrTitle"/>
          </p:nvPr>
        </p:nvSpPr>
        <p:spPr>
          <a:xfrm>
            <a:off x="944880" y="2836506"/>
            <a:ext cx="9598712" cy="1942536"/>
          </a:xfrm>
        </p:spPr>
        <p:txBody>
          <a:bodyPr anchor="b">
            <a:normAutofit/>
          </a:bodyPr>
          <a:lstStyle>
            <a:lvl1pPr algn="l">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AD05245-A962-B22A-4DDB-C3B335E6454A}"/>
              </a:ext>
            </a:extLst>
          </p:cNvPr>
          <p:cNvSpPr>
            <a:spLocks noGrp="1"/>
          </p:cNvSpPr>
          <p:nvPr>
            <p:ph type="subTitle" idx="1"/>
          </p:nvPr>
        </p:nvSpPr>
        <p:spPr>
          <a:xfrm>
            <a:off x="944880" y="5108704"/>
            <a:ext cx="9144000" cy="605502"/>
          </a:xfrm>
        </p:spPr>
        <p:txBody>
          <a:bodyPr>
            <a:normAutofit/>
          </a:bodyPr>
          <a:lstStyle>
            <a:lvl1pPr marL="0" indent="0" algn="l">
              <a:buNone/>
              <a:defRPr sz="36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4" name="Picture 13">
            <a:extLst>
              <a:ext uri="{FF2B5EF4-FFF2-40B4-BE49-F238E27FC236}">
                <a16:creationId xmlns:a16="http://schemas.microsoft.com/office/drawing/2014/main" id="{C1E589B6-88B9-49D6-0916-921E66203B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4880" y="1041399"/>
            <a:ext cx="3151259" cy="686813"/>
          </a:xfrm>
          <a:prstGeom prst="rect">
            <a:avLst/>
          </a:prstGeom>
        </p:spPr>
      </p:pic>
      <p:pic>
        <p:nvPicPr>
          <p:cNvPr id="6" name="Picture 5">
            <a:extLst>
              <a:ext uri="{FF2B5EF4-FFF2-40B4-BE49-F238E27FC236}">
                <a16:creationId xmlns:a16="http://schemas.microsoft.com/office/drawing/2014/main" id="{AC26ABD9-40D7-AA22-F0C1-650D3C21A1D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4880" y="6334744"/>
            <a:ext cx="1725318" cy="365792"/>
          </a:xfrm>
          <a:prstGeom prst="rect">
            <a:avLst/>
          </a:prstGeom>
        </p:spPr>
      </p:pic>
    </p:spTree>
    <p:extLst>
      <p:ext uri="{BB962C8B-B14F-4D97-AF65-F5344CB8AC3E}">
        <p14:creationId xmlns:p14="http://schemas.microsoft.com/office/powerpoint/2010/main" val="1716759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48D5A62-614B-2D12-4D2F-EBF4440B03D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E303836C-3920-B8E1-6601-C5C5446BEA1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07DDB8D-FC27-13BF-343B-91B6E648E7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837FC482-F850-8020-F4D8-5B9804E9BE4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4641A13F-9C9A-7798-CC1C-CE523E7B96E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178AA40A-965E-4A63-9800-522E13EEDAAE}"/>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pic>
        <p:nvPicPr>
          <p:cNvPr id="7" name="Picture 6">
            <a:extLst>
              <a:ext uri="{FF2B5EF4-FFF2-40B4-BE49-F238E27FC236}">
                <a16:creationId xmlns:a16="http://schemas.microsoft.com/office/drawing/2014/main" id="{4180655E-9533-1F3E-EE1F-400B7CC42A23}"/>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rcRect t="911" r="25323" b="911"/>
          <a:stretch/>
        </p:blipFill>
        <p:spPr>
          <a:xfrm>
            <a:off x="0" y="0"/>
            <a:ext cx="12164007" cy="6858000"/>
          </a:xfrm>
          <a:prstGeom prst="rect">
            <a:avLst/>
          </a:prstGeom>
        </p:spPr>
      </p:pic>
      <p:sp>
        <p:nvSpPr>
          <p:cNvPr id="9" name="Rectangle 8">
            <a:extLst>
              <a:ext uri="{FF2B5EF4-FFF2-40B4-BE49-F238E27FC236}">
                <a16:creationId xmlns:a16="http://schemas.microsoft.com/office/drawing/2014/main" id="{B0563A23-3EFF-38EB-A383-397C48DB7BBD}"/>
              </a:ext>
            </a:extLst>
          </p:cNvPr>
          <p:cNvSpPr/>
          <p:nvPr userDrawn="1"/>
        </p:nvSpPr>
        <p:spPr>
          <a:xfrm>
            <a:off x="0" y="0"/>
            <a:ext cx="346364" cy="4219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2A32BE1-F42E-110C-83BF-0ACBAA7288E6}"/>
              </a:ext>
            </a:extLst>
          </p:cNvPr>
          <p:cNvSpPr/>
          <p:nvPr userDrawn="1"/>
        </p:nvSpPr>
        <p:spPr>
          <a:xfrm>
            <a:off x="0" y="4219720"/>
            <a:ext cx="346364" cy="263827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F06C126F-E72F-28EC-ED77-1AAD54999D83}"/>
              </a:ext>
            </a:extLst>
          </p:cNvPr>
          <p:cNvCxnSpPr/>
          <p:nvPr userDrawn="1"/>
        </p:nvCxnSpPr>
        <p:spPr>
          <a:xfrm>
            <a:off x="914400" y="6280030"/>
            <a:ext cx="1863306" cy="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4359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5CB1EB-93F5-153E-4764-E6319385D9E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094E9C18-36D4-1EE7-007E-6520B516FDCB}"/>
              </a:ext>
            </a:extLst>
          </p:cNvPr>
          <p:cNvSpPr>
            <a:spLocks noGrp="1"/>
          </p:cNvSpPr>
          <p:nvPr>
            <p:ph type="title"/>
          </p:nvPr>
        </p:nvSpPr>
        <p:spPr>
          <a:xfrm>
            <a:off x="831850" y="1709738"/>
            <a:ext cx="10515600" cy="2852737"/>
          </a:xfrm>
        </p:spPr>
        <p:txBody>
          <a:bodyPr anchor="b"/>
          <a:lstStyle>
            <a:lvl1pPr>
              <a:defRPr sz="6000">
                <a:solidFill>
                  <a:schemeClr val="tx2"/>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2F4AB9D-F129-1D0A-3F18-30A01E3CCC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3">
            <a:extLst>
              <a:ext uri="{FF2B5EF4-FFF2-40B4-BE49-F238E27FC236}">
                <a16:creationId xmlns:a16="http://schemas.microsoft.com/office/drawing/2014/main" id="{F9D8542C-570A-B982-EE49-D7BE0A03C9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79EF8714-2E62-9E33-0635-B316E158ECA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56914BD-BC5D-E404-E474-87D0704C84E1}"/>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31595868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17A5C9C-15EB-E01C-A21A-71D8E8B7B44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27D6001B-3DD9-17F0-8DD5-9C726E119CB1}"/>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0DF940-4841-13C0-050D-C893010CE0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CA22BF0-4C09-EE31-F1E7-CE5F45A8AA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A4F9AE5F-CE26-D80C-F042-86377F8A6D7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7" name="Graphic 6">
            <a:extLst>
              <a:ext uri="{FF2B5EF4-FFF2-40B4-BE49-F238E27FC236}">
                <a16:creationId xmlns:a16="http://schemas.microsoft.com/office/drawing/2014/main" id="{622AC294-F3E3-1F24-5352-81AB4060EBF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C68E6FF1-74DD-DB97-8000-750655DC310A}"/>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19039341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D3521FE-8074-3AEE-08BB-863228D4A2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5B4051E9-43BD-C793-F812-C8B2D5C7511A}"/>
              </a:ext>
            </a:extLst>
          </p:cNvPr>
          <p:cNvSpPr>
            <a:spLocks noGrp="1"/>
          </p:cNvSpPr>
          <p:nvPr>
            <p:ph type="title"/>
          </p:nvPr>
        </p:nvSpPr>
        <p:spPr>
          <a:xfrm>
            <a:off x="839788" y="365125"/>
            <a:ext cx="10515600" cy="1325563"/>
          </a:xfrm>
        </p:spPr>
        <p:txBody>
          <a:bodyPr/>
          <a:lstStyle>
            <a:lvl1pPr>
              <a:defRPr>
                <a:solidFill>
                  <a:schemeClr val="tx2"/>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70F60C-4123-6B76-0C69-9257E0884C80}"/>
              </a:ext>
            </a:extLst>
          </p:cNvPr>
          <p:cNvSpPr>
            <a:spLocks noGrp="1"/>
          </p:cNvSpPr>
          <p:nvPr>
            <p:ph type="body" idx="1"/>
          </p:nvPr>
        </p:nvSpPr>
        <p:spPr>
          <a:xfrm>
            <a:off x="839788" y="1681163"/>
            <a:ext cx="5157787" cy="823912"/>
          </a:xfrm>
        </p:spPr>
        <p:txBody>
          <a:bodyPr anchor="b"/>
          <a:lstStyle>
            <a:lvl1pPr marL="0" indent="0">
              <a:buNone/>
              <a:defRPr sz="2400" b="1">
                <a:solidFill>
                  <a:schemeClr val="bg2"/>
                </a:solidFill>
                <a:latin typeface="Zilla Slab" pitchFamily="2" charset="0"/>
                <a:ea typeface="Zilla Slab"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B28564-DC70-E696-0B34-9B756C5B4D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1411CD-ADCF-8C75-C21B-9C8189CDDC58}"/>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solidFill>
                <a:latin typeface="Zilla Slab" pitchFamily="2" charset="0"/>
                <a:ea typeface="Zilla Slab"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A3D30F-8257-0773-224C-A80FD7DCC3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784CB09F-AA67-425D-8664-92FF321FB4E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8" name="Graphic 7">
            <a:extLst>
              <a:ext uri="{FF2B5EF4-FFF2-40B4-BE49-F238E27FC236}">
                <a16:creationId xmlns:a16="http://schemas.microsoft.com/office/drawing/2014/main" id="{D9773CB4-AA79-2B87-C13D-416A1743F26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9" name="Slide Number Placeholder 5">
            <a:extLst>
              <a:ext uri="{FF2B5EF4-FFF2-40B4-BE49-F238E27FC236}">
                <a16:creationId xmlns:a16="http://schemas.microsoft.com/office/drawing/2014/main" id="{951C8CC7-5103-852D-2638-5633A716F9E0}"/>
              </a:ext>
            </a:extLst>
          </p:cNvPr>
          <p:cNvSpPr>
            <a:spLocks noGrp="1"/>
          </p:cNvSpPr>
          <p:nvPr>
            <p:ph type="sldNum" sz="quarter" idx="10"/>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4572414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C190A96-BFCE-EFBD-CCDA-D7646C83B4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ED80C1EC-5C4F-4BB4-1D23-1BB6D97E2B04}"/>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pic>
        <p:nvPicPr>
          <p:cNvPr id="3" name="Picture 2">
            <a:extLst>
              <a:ext uri="{FF2B5EF4-FFF2-40B4-BE49-F238E27FC236}">
                <a16:creationId xmlns:a16="http://schemas.microsoft.com/office/drawing/2014/main" id="{2ACC1866-2580-DF83-1482-67DBCC2EA1E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4" name="Graphic 3">
            <a:extLst>
              <a:ext uri="{FF2B5EF4-FFF2-40B4-BE49-F238E27FC236}">
                <a16:creationId xmlns:a16="http://schemas.microsoft.com/office/drawing/2014/main" id="{06928A15-0FAE-3D7A-BE88-D42ED256BE3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C03D672C-222C-01AE-E0B6-93D6FE1ABD79}"/>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5600925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B72897-6F99-23F4-62FA-97B44DE86C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pic>
        <p:nvPicPr>
          <p:cNvPr id="2" name="Picture 1">
            <a:extLst>
              <a:ext uri="{FF2B5EF4-FFF2-40B4-BE49-F238E27FC236}">
                <a16:creationId xmlns:a16="http://schemas.microsoft.com/office/drawing/2014/main" id="{1B4B1E94-09C1-BD0F-9C7D-EA10237B86C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3" name="Graphic 2">
            <a:extLst>
              <a:ext uri="{FF2B5EF4-FFF2-40B4-BE49-F238E27FC236}">
                <a16:creationId xmlns:a16="http://schemas.microsoft.com/office/drawing/2014/main" id="{12804975-758F-47E4-93AA-69CA818075B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4" name="Slide Number Placeholder 5">
            <a:extLst>
              <a:ext uri="{FF2B5EF4-FFF2-40B4-BE49-F238E27FC236}">
                <a16:creationId xmlns:a16="http://schemas.microsoft.com/office/drawing/2014/main" id="{E3EE3F8D-94C6-6090-7F45-0140F68D96F7}"/>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8090301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EA1E715-A3C2-1062-72BA-AA6101EFDB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3C33B173-896D-3270-D196-9EA3CDED3908}"/>
              </a:ext>
            </a:extLst>
          </p:cNvPr>
          <p:cNvSpPr>
            <a:spLocks noGrp="1"/>
          </p:cNvSpPr>
          <p:nvPr>
            <p:ph type="title"/>
          </p:nvPr>
        </p:nvSpPr>
        <p:spPr>
          <a:xfrm>
            <a:off x="839788" y="457200"/>
            <a:ext cx="3932237" cy="1112838"/>
          </a:xfrm>
        </p:spPr>
        <p:txBody>
          <a:bodyPr anchor="b"/>
          <a:lstStyle>
            <a:lvl1pPr>
              <a:defRPr sz="3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E64532D-27C9-84A8-A21E-F55F542623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009652A-3B8E-D6FE-0C51-AD79BCB11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a:extLst>
              <a:ext uri="{FF2B5EF4-FFF2-40B4-BE49-F238E27FC236}">
                <a16:creationId xmlns:a16="http://schemas.microsoft.com/office/drawing/2014/main" id="{FA6FED96-33F4-AE85-1943-38B458CA6CC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76CCEDC5-EC77-FE15-57BB-7AAC4B53333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7" name="Slide Number Placeholder 5">
            <a:extLst>
              <a:ext uri="{FF2B5EF4-FFF2-40B4-BE49-F238E27FC236}">
                <a16:creationId xmlns:a16="http://schemas.microsoft.com/office/drawing/2014/main" id="{D09DCED4-9B61-CDC1-9F25-4418EED76E26}"/>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20673393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F93E89-EC43-508C-91D2-FE01949F0ED8}"/>
              </a:ext>
            </a:extLst>
          </p:cNvPr>
          <p:cNvSpPr/>
          <p:nvPr userDrawn="1"/>
        </p:nvSpPr>
        <p:spPr>
          <a:xfrm>
            <a:off x="5076825" y="885825"/>
            <a:ext cx="6275387" cy="498316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EC8168B-13D2-605D-EF13-8460F43410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D0864C21-F58A-694E-BDDF-DDA23E0F92EA}"/>
              </a:ext>
            </a:extLst>
          </p:cNvPr>
          <p:cNvSpPr>
            <a:spLocks noGrp="1"/>
          </p:cNvSpPr>
          <p:nvPr>
            <p:ph type="title"/>
          </p:nvPr>
        </p:nvSpPr>
        <p:spPr>
          <a:xfrm>
            <a:off x="839788" y="457200"/>
            <a:ext cx="3932237" cy="1112838"/>
          </a:xfrm>
        </p:spPr>
        <p:txBody>
          <a:bodyPr anchor="b"/>
          <a:lstStyle>
            <a:lvl1pPr>
              <a:defRPr sz="3200">
                <a:solidFill>
                  <a:schemeClr val="tx2"/>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B5008F3-14EF-C275-5009-54A6C0948E96}"/>
              </a:ext>
            </a:extLst>
          </p:cNvPr>
          <p:cNvSpPr>
            <a:spLocks noGrp="1"/>
          </p:cNvSpPr>
          <p:nvPr>
            <p:ph type="pic" idx="1"/>
          </p:nvPr>
        </p:nvSpPr>
        <p:spPr>
          <a:xfrm>
            <a:off x="5183188" y="987426"/>
            <a:ext cx="6065837" cy="4737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9828B4C-F206-DE18-A860-B2259AF8DF8F}"/>
              </a:ext>
            </a:extLst>
          </p:cNvPr>
          <p:cNvSpPr>
            <a:spLocks noGrp="1"/>
          </p:cNvSpPr>
          <p:nvPr>
            <p:ph type="body" sz="half" idx="2"/>
          </p:nvPr>
        </p:nvSpPr>
        <p:spPr>
          <a:xfrm>
            <a:off x="839788" y="1578718"/>
            <a:ext cx="3932237" cy="429026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a:extLst>
              <a:ext uri="{FF2B5EF4-FFF2-40B4-BE49-F238E27FC236}">
                <a16:creationId xmlns:a16="http://schemas.microsoft.com/office/drawing/2014/main" id="{1050AA15-91AB-ED53-47E2-7B264334441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6C2B2FDC-3E39-80E3-47A9-F14E0B22DB6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7" name="Slide Number Placeholder 5">
            <a:extLst>
              <a:ext uri="{FF2B5EF4-FFF2-40B4-BE49-F238E27FC236}">
                <a16:creationId xmlns:a16="http://schemas.microsoft.com/office/drawing/2014/main" id="{FA1E7417-7698-6DAD-F799-E94ADF9A91E0}"/>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9561208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68AD05-1982-0DF0-DB84-69992E3B47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DD0D3381-9A33-CDE6-A465-39D508AD737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9A21791-0209-93DE-4383-04DAF66454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3A507BB1-3659-8D23-FA89-EA4F4D60D67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DA12D315-2DC9-AE52-4820-DBFE1FD82AA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E0BA133-188F-1018-3011-9894D2759E33}"/>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42703659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6172AF-7DA8-B4AB-77FD-93C3CDDBF74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Vertical Title 1">
            <a:extLst>
              <a:ext uri="{FF2B5EF4-FFF2-40B4-BE49-F238E27FC236}">
                <a16:creationId xmlns:a16="http://schemas.microsoft.com/office/drawing/2014/main" id="{80514317-5D4A-3C1D-4027-E4A77FCE8B28}"/>
              </a:ext>
            </a:extLst>
          </p:cNvPr>
          <p:cNvSpPr>
            <a:spLocks noGrp="1"/>
          </p:cNvSpPr>
          <p:nvPr>
            <p:ph type="title" orient="vert"/>
          </p:nvPr>
        </p:nvSpPr>
        <p:spPr>
          <a:xfrm>
            <a:off x="8724900" y="365125"/>
            <a:ext cx="2628900" cy="5811838"/>
          </a:xfrm>
        </p:spPr>
        <p:txBody>
          <a:bodyPr vert="eaVert"/>
          <a:lstStyle>
            <a:lvl1pPr>
              <a:defRPr>
                <a:solidFill>
                  <a:schemeClr val="tx2"/>
                </a:solidFill>
              </a:defRPr>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94BE6995-F9A4-0689-FA08-AC65CBECF2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04AF2B0-44DA-FC23-665D-75C23412D4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1EBA1BCB-5D76-4F42-E4D9-407309BC6F3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A9CA00D-4A52-8A7A-BE74-13E98B5DA635}"/>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34118767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pic>
        <p:nvPicPr>
          <p:cNvPr id="10" name="Picture 9" hidden="1">
            <a:extLst>
              <a:ext uri="{FF2B5EF4-FFF2-40B4-BE49-F238E27FC236}">
                <a16:creationId xmlns:a16="http://schemas.microsoft.com/office/drawing/2014/main" id="{121B6C1D-9A58-FCFD-FC59-B83B334775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4796"/>
            <a:ext cx="12192000" cy="6857998"/>
          </a:xfrm>
          <a:prstGeom prst="rect">
            <a:avLst/>
          </a:prstGeom>
        </p:spPr>
      </p:pic>
      <p:pic>
        <p:nvPicPr>
          <p:cNvPr id="19" name="Graphic 18">
            <a:extLst>
              <a:ext uri="{FF2B5EF4-FFF2-40B4-BE49-F238E27FC236}">
                <a16:creationId xmlns:a16="http://schemas.microsoft.com/office/drawing/2014/main" id="{1C00A59F-5699-FFEC-05E4-084B9D01F50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2362" y="3032254"/>
            <a:ext cx="342035" cy="376238"/>
          </a:xfrm>
          <a:prstGeom prst="rect">
            <a:avLst/>
          </a:prstGeom>
        </p:spPr>
      </p:pic>
      <p:pic>
        <p:nvPicPr>
          <p:cNvPr id="21" name="Graphic 20">
            <a:extLst>
              <a:ext uri="{FF2B5EF4-FFF2-40B4-BE49-F238E27FC236}">
                <a16:creationId xmlns:a16="http://schemas.microsoft.com/office/drawing/2014/main" id="{572AEE09-A5AD-AA06-48E6-898E033BA94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09779" y="3926565"/>
            <a:ext cx="307200" cy="384000"/>
          </a:xfrm>
          <a:prstGeom prst="rect">
            <a:avLst/>
          </a:prstGeom>
        </p:spPr>
      </p:pic>
      <p:pic>
        <p:nvPicPr>
          <p:cNvPr id="23" name="Graphic 22">
            <a:extLst>
              <a:ext uri="{FF2B5EF4-FFF2-40B4-BE49-F238E27FC236}">
                <a16:creationId xmlns:a16="http://schemas.microsoft.com/office/drawing/2014/main" id="{A01C56E0-4FF4-A49E-65BE-5A1BF232E4D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60775" y="4758611"/>
            <a:ext cx="405209" cy="405209"/>
          </a:xfrm>
          <a:prstGeom prst="rect">
            <a:avLst/>
          </a:prstGeom>
        </p:spPr>
      </p:pic>
      <p:pic>
        <p:nvPicPr>
          <p:cNvPr id="27" name="Graphic 26">
            <a:extLst>
              <a:ext uri="{FF2B5EF4-FFF2-40B4-BE49-F238E27FC236}">
                <a16:creationId xmlns:a16="http://schemas.microsoft.com/office/drawing/2014/main" id="{CDEF55D3-82EA-2BAF-B8BF-6C8795BCED9F}"/>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109779" y="5676372"/>
            <a:ext cx="3172854" cy="376042"/>
          </a:xfrm>
          <a:prstGeom prst="rect">
            <a:avLst/>
          </a:prstGeom>
        </p:spPr>
      </p:pic>
      <p:pic>
        <p:nvPicPr>
          <p:cNvPr id="14" name="Picture 13">
            <a:extLst>
              <a:ext uri="{FF2B5EF4-FFF2-40B4-BE49-F238E27FC236}">
                <a16:creationId xmlns:a16="http://schemas.microsoft.com/office/drawing/2014/main" id="{C1E589B6-88B9-49D6-0916-921E66203BF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944880" y="1041399"/>
            <a:ext cx="4760571" cy="1037560"/>
          </a:xfrm>
          <a:prstGeom prst="rect">
            <a:avLst/>
          </a:prstGeom>
        </p:spPr>
      </p:pic>
      <p:sp>
        <p:nvSpPr>
          <p:cNvPr id="6" name="Subtitle 2">
            <a:extLst>
              <a:ext uri="{FF2B5EF4-FFF2-40B4-BE49-F238E27FC236}">
                <a16:creationId xmlns:a16="http://schemas.microsoft.com/office/drawing/2014/main" id="{659A0B0B-6155-1E7E-4087-A0497CBDBD27}"/>
              </a:ext>
            </a:extLst>
          </p:cNvPr>
          <p:cNvSpPr txBox="1">
            <a:spLocks/>
          </p:cNvSpPr>
          <p:nvPr userDrawn="1"/>
        </p:nvSpPr>
        <p:spPr>
          <a:xfrm>
            <a:off x="1628774" y="3921043"/>
            <a:ext cx="8460106" cy="36395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dirty="0">
                <a:solidFill>
                  <a:schemeClr val="tx1"/>
                </a:solidFill>
              </a:rPr>
              <a:t>0731 3111500, 0731 3111501 </a:t>
            </a:r>
          </a:p>
        </p:txBody>
      </p:sp>
      <p:sp>
        <p:nvSpPr>
          <p:cNvPr id="7" name="Subtitle 2">
            <a:extLst>
              <a:ext uri="{FF2B5EF4-FFF2-40B4-BE49-F238E27FC236}">
                <a16:creationId xmlns:a16="http://schemas.microsoft.com/office/drawing/2014/main" id="{AC9BAA4C-4941-92F4-0508-9A086B1782D0}"/>
              </a:ext>
            </a:extLst>
          </p:cNvPr>
          <p:cNvSpPr txBox="1">
            <a:spLocks/>
          </p:cNvSpPr>
          <p:nvPr userDrawn="1"/>
        </p:nvSpPr>
        <p:spPr>
          <a:xfrm>
            <a:off x="1628774" y="4797553"/>
            <a:ext cx="8407400" cy="405209"/>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tx1"/>
                </a:solidFill>
              </a:rPr>
              <a:t>www.medicaps.ac.in</a:t>
            </a:r>
          </a:p>
        </p:txBody>
      </p:sp>
      <p:sp>
        <p:nvSpPr>
          <p:cNvPr id="28" name="Subtitle 2">
            <a:extLst>
              <a:ext uri="{FF2B5EF4-FFF2-40B4-BE49-F238E27FC236}">
                <a16:creationId xmlns:a16="http://schemas.microsoft.com/office/drawing/2014/main" id="{A505A0EF-09C3-A69E-1757-50EC79E03CA8}"/>
              </a:ext>
            </a:extLst>
          </p:cNvPr>
          <p:cNvSpPr txBox="1">
            <a:spLocks/>
          </p:cNvSpPr>
          <p:nvPr userDrawn="1"/>
        </p:nvSpPr>
        <p:spPr>
          <a:xfrm>
            <a:off x="1628774" y="3030245"/>
            <a:ext cx="8460106" cy="36395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tx1"/>
                </a:solidFill>
              </a:rPr>
              <a:t>A.B. Road, </a:t>
            </a:r>
            <a:r>
              <a:rPr lang="en-US" dirty="0" err="1">
                <a:solidFill>
                  <a:schemeClr val="tx1"/>
                </a:solidFill>
              </a:rPr>
              <a:t>Pigdamber</a:t>
            </a:r>
            <a:r>
              <a:rPr lang="en-US" dirty="0">
                <a:solidFill>
                  <a:schemeClr val="tx1"/>
                </a:solidFill>
              </a:rPr>
              <a:t>, Rau, Indore – 453331 </a:t>
            </a:r>
          </a:p>
        </p:txBody>
      </p:sp>
    </p:spTree>
    <p:extLst>
      <p:ext uri="{BB962C8B-B14F-4D97-AF65-F5344CB8AC3E}">
        <p14:creationId xmlns:p14="http://schemas.microsoft.com/office/powerpoint/2010/main" val="1682911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sp>
      <p:sp>
        <p:nvSpPr>
          <p:cNvPr id="3" name="Shape 1"/>
          <p:cNvSpPr/>
          <p:nvPr/>
        </p:nvSpPr>
        <p:spPr>
          <a:xfrm>
            <a:off x="0" y="0"/>
            <a:ext cx="12192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552105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2AB9EE-315E-A59D-7C69-7297198BEC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CD9C6-79F7-5E4F-5997-18FD9FB865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86A633-AE6E-E900-F6C6-2A97DCD181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07FF33C2-41D7-CC19-A386-62E89AE35F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8EF264C-5B54-0AB1-A4A1-B9DE1C365F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599A10-5031-416A-8935-40C3BCBA0AF7}" type="slidenum">
              <a:rPr lang="en-US" smtClean="0"/>
              <a:t>‹#›</a:t>
            </a:fld>
            <a:endParaRPr lang="en-US"/>
          </a:p>
        </p:txBody>
      </p:sp>
    </p:spTree>
    <p:extLst>
      <p:ext uri="{BB962C8B-B14F-4D97-AF65-F5344CB8AC3E}">
        <p14:creationId xmlns:p14="http://schemas.microsoft.com/office/powerpoint/2010/main" val="1043216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mailto:suggestions@medicaps.ac.i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047D-7384-7188-237B-A0D05A2053FC}"/>
              </a:ext>
            </a:extLst>
          </p:cNvPr>
          <p:cNvSpPr>
            <a:spLocks noGrp="1"/>
          </p:cNvSpPr>
          <p:nvPr>
            <p:ph type="ctrTitle"/>
          </p:nvPr>
        </p:nvSpPr>
        <p:spPr>
          <a:xfrm>
            <a:off x="944880" y="3906370"/>
            <a:ext cx="5624008" cy="872671"/>
          </a:xfrm>
        </p:spPr>
        <p:txBody>
          <a:bodyPr>
            <a:noAutofit/>
          </a:bodyPr>
          <a:lstStyle/>
          <a:p>
            <a:br>
              <a:rPr lang="en-IN" sz="3200" dirty="0"/>
            </a:br>
            <a:endParaRPr lang="en-US" sz="3200" dirty="0"/>
          </a:p>
        </p:txBody>
      </p:sp>
      <p:sp>
        <p:nvSpPr>
          <p:cNvPr id="3" name="Subtitle 2">
            <a:extLst>
              <a:ext uri="{FF2B5EF4-FFF2-40B4-BE49-F238E27FC236}">
                <a16:creationId xmlns:a16="http://schemas.microsoft.com/office/drawing/2014/main" id="{6FA028DC-049A-2F5E-A96B-81D104E86BBE}"/>
              </a:ext>
            </a:extLst>
          </p:cNvPr>
          <p:cNvSpPr>
            <a:spLocks noGrp="1"/>
          </p:cNvSpPr>
          <p:nvPr>
            <p:ph type="subTitle" idx="1"/>
          </p:nvPr>
        </p:nvSpPr>
        <p:spPr>
          <a:xfrm>
            <a:off x="413238" y="2357582"/>
            <a:ext cx="9763565" cy="3797033"/>
          </a:xfrm>
        </p:spPr>
        <p:txBody>
          <a:bodyPr>
            <a:normAutofit/>
          </a:bodyPr>
          <a:lstStyle/>
          <a:p>
            <a:r>
              <a:rPr lang="en-IN" b="1" dirty="0"/>
              <a:t>Automated Service Case Management</a:t>
            </a:r>
          </a:p>
          <a:p>
            <a:r>
              <a:rPr lang="en-IN" dirty="0"/>
              <a:t>Using Salesforce, OCR &amp; AI</a:t>
            </a:r>
          </a:p>
          <a:p>
            <a:r>
              <a:rPr lang="en-IN" dirty="0"/>
              <a:t>PROGRESS REPORT</a:t>
            </a:r>
          </a:p>
          <a:p>
            <a:endParaRPr lang="en-IN" dirty="0"/>
          </a:p>
          <a:p>
            <a:r>
              <a:rPr lang="en-IN" b="1" dirty="0"/>
              <a:t>PRIYAL BAHETY (</a:t>
            </a:r>
            <a:r>
              <a:rPr lang="en-IN" dirty="0"/>
              <a:t>EN22IT301072)</a:t>
            </a:r>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340459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4880" y="491033"/>
            <a:ext cx="4463951" cy="557907"/>
          </a:xfrm>
          <a:prstGeom prst="rect">
            <a:avLst/>
          </a:prstGeom>
          <a:noFill/>
          <a:ln/>
        </p:spPr>
        <p:txBody>
          <a:bodyPr wrap="none" lIns="0" tIns="0" rIns="0" bIns="0" rtlCol="0" anchor="t"/>
          <a:lstStyle/>
          <a:p>
            <a:pPr>
              <a:lnSpc>
                <a:spcPts val="4375"/>
              </a:lnSpc>
            </a:pPr>
            <a:r>
              <a:rPr lang="en-US" sz="3500" b="1" dirty="0">
                <a:solidFill>
                  <a:srgbClr val="000000"/>
                </a:solidFill>
                <a:latin typeface="Inter Bold" pitchFamily="34" charset="0"/>
                <a:ea typeface="Inter Bold" pitchFamily="34" charset="-122"/>
              </a:rPr>
              <a:t>Project Overview</a:t>
            </a:r>
          </a:p>
          <a:p>
            <a:pPr>
              <a:lnSpc>
                <a:spcPts val="4375"/>
              </a:lnSpc>
            </a:pPr>
            <a:endParaRPr lang="en-US" sz="3500" dirty="0"/>
          </a:p>
        </p:txBody>
      </p:sp>
      <p:sp>
        <p:nvSpPr>
          <p:cNvPr id="5" name="Text 3"/>
          <p:cNvSpPr/>
          <p:nvPr/>
        </p:nvSpPr>
        <p:spPr>
          <a:xfrm>
            <a:off x="904974" y="2286099"/>
            <a:ext cx="2911673" cy="558007"/>
          </a:xfrm>
          <a:prstGeom prst="rect">
            <a:avLst/>
          </a:prstGeom>
          <a:noFill/>
          <a:ln/>
        </p:spPr>
        <p:txBody>
          <a:bodyPr wrap="square" lIns="0" tIns="0" rIns="0" bIns="0" rtlCol="0" anchor="t"/>
          <a:lstStyle/>
          <a:p>
            <a:pPr>
              <a:lnSpc>
                <a:spcPts val="2167"/>
              </a:lnSpc>
            </a:pPr>
            <a:endParaRPr lang="en-US" sz="1750" dirty="0"/>
          </a:p>
        </p:txBody>
      </p:sp>
      <p:sp>
        <p:nvSpPr>
          <p:cNvPr id="6" name="Text 4"/>
          <p:cNvSpPr/>
          <p:nvPr/>
        </p:nvSpPr>
        <p:spPr>
          <a:xfrm>
            <a:off x="904974" y="3012778"/>
            <a:ext cx="2911673" cy="555625"/>
          </a:xfrm>
          <a:prstGeom prst="rect">
            <a:avLst/>
          </a:prstGeom>
          <a:noFill/>
          <a:ln/>
        </p:spPr>
        <p:txBody>
          <a:bodyPr wrap="square" lIns="0" tIns="0" rIns="0" bIns="0" rtlCol="0" anchor="t"/>
          <a:lstStyle/>
          <a:p>
            <a:pPr>
              <a:lnSpc>
                <a:spcPts val="2167"/>
              </a:lnSpc>
            </a:pPr>
            <a:r>
              <a:rPr lang="en-US" sz="1375" dirty="0">
                <a:solidFill>
                  <a:srgbClr val="272525"/>
                </a:solidFill>
                <a:latin typeface="Inter" pitchFamily="34" charset="0"/>
                <a:ea typeface="Inter" pitchFamily="34" charset="-122"/>
                <a:cs typeface="Inter" pitchFamily="34" charset="-120"/>
              </a:rPr>
              <a:t>.</a:t>
            </a:r>
            <a:endParaRPr lang="en-US" sz="1375" dirty="0"/>
          </a:p>
        </p:txBody>
      </p:sp>
      <p:sp>
        <p:nvSpPr>
          <p:cNvPr id="9" name="Text 7"/>
          <p:cNvSpPr/>
          <p:nvPr/>
        </p:nvSpPr>
        <p:spPr>
          <a:xfrm>
            <a:off x="4469309" y="2286099"/>
            <a:ext cx="2413893" cy="279003"/>
          </a:xfrm>
          <a:prstGeom prst="rect">
            <a:avLst/>
          </a:prstGeom>
          <a:noFill/>
          <a:ln/>
        </p:spPr>
        <p:txBody>
          <a:bodyPr wrap="none" lIns="0" tIns="0" rIns="0" bIns="0" rtlCol="0" anchor="t"/>
          <a:lstStyle/>
          <a:p>
            <a:pPr>
              <a:lnSpc>
                <a:spcPts val="2167"/>
              </a:lnSpc>
            </a:pPr>
            <a:endParaRPr lang="en-US" sz="1750" dirty="0"/>
          </a:p>
        </p:txBody>
      </p:sp>
      <p:sp>
        <p:nvSpPr>
          <p:cNvPr id="10" name="Text 8"/>
          <p:cNvSpPr/>
          <p:nvPr/>
        </p:nvSpPr>
        <p:spPr>
          <a:xfrm>
            <a:off x="4469309" y="2733774"/>
            <a:ext cx="2911673" cy="555625"/>
          </a:xfrm>
          <a:prstGeom prst="rect">
            <a:avLst/>
          </a:prstGeom>
          <a:noFill/>
          <a:ln/>
        </p:spPr>
        <p:txBody>
          <a:bodyPr wrap="square" lIns="0" tIns="0" rIns="0" bIns="0" rtlCol="0" anchor="t"/>
          <a:lstStyle/>
          <a:p>
            <a:pPr>
              <a:lnSpc>
                <a:spcPts val="2167"/>
              </a:lnSpc>
            </a:pPr>
            <a:endParaRPr lang="en-US" sz="1375" dirty="0"/>
          </a:p>
        </p:txBody>
      </p:sp>
      <p:sp>
        <p:nvSpPr>
          <p:cNvPr id="13" name="Text 11"/>
          <p:cNvSpPr/>
          <p:nvPr/>
        </p:nvSpPr>
        <p:spPr>
          <a:xfrm>
            <a:off x="904975" y="4144864"/>
            <a:ext cx="2644279" cy="279003"/>
          </a:xfrm>
          <a:prstGeom prst="rect">
            <a:avLst/>
          </a:prstGeom>
          <a:noFill/>
          <a:ln/>
        </p:spPr>
        <p:txBody>
          <a:bodyPr wrap="none" lIns="0" tIns="0" rIns="0" bIns="0" rtlCol="0" anchor="t"/>
          <a:lstStyle/>
          <a:p>
            <a:pPr>
              <a:lnSpc>
                <a:spcPts val="2167"/>
              </a:lnSpc>
            </a:pPr>
            <a:endParaRPr lang="en-US" sz="1750" dirty="0"/>
          </a:p>
        </p:txBody>
      </p:sp>
      <p:sp>
        <p:nvSpPr>
          <p:cNvPr id="14" name="Text 12"/>
          <p:cNvSpPr/>
          <p:nvPr/>
        </p:nvSpPr>
        <p:spPr>
          <a:xfrm>
            <a:off x="904974" y="4592539"/>
            <a:ext cx="2911673" cy="833438"/>
          </a:xfrm>
          <a:prstGeom prst="rect">
            <a:avLst/>
          </a:prstGeom>
          <a:noFill/>
          <a:ln/>
        </p:spPr>
        <p:txBody>
          <a:bodyPr wrap="square" lIns="0" tIns="0" rIns="0" bIns="0" rtlCol="0" anchor="t"/>
          <a:lstStyle/>
          <a:p>
            <a:pPr>
              <a:lnSpc>
                <a:spcPts val="2167"/>
              </a:lnSpc>
            </a:pPr>
            <a:endParaRPr lang="en-US" sz="1375" dirty="0"/>
          </a:p>
        </p:txBody>
      </p:sp>
      <p:sp>
        <p:nvSpPr>
          <p:cNvPr id="17" name="Text 15"/>
          <p:cNvSpPr/>
          <p:nvPr/>
        </p:nvSpPr>
        <p:spPr>
          <a:xfrm>
            <a:off x="4469309" y="4144864"/>
            <a:ext cx="2231926" cy="279003"/>
          </a:xfrm>
          <a:prstGeom prst="rect">
            <a:avLst/>
          </a:prstGeom>
          <a:noFill/>
          <a:ln/>
        </p:spPr>
        <p:txBody>
          <a:bodyPr wrap="none" lIns="0" tIns="0" rIns="0" bIns="0" rtlCol="0" anchor="t"/>
          <a:lstStyle/>
          <a:p>
            <a:pPr>
              <a:lnSpc>
                <a:spcPts val="2167"/>
              </a:lnSpc>
            </a:pPr>
            <a:endParaRPr lang="en-US" sz="1750" dirty="0"/>
          </a:p>
        </p:txBody>
      </p:sp>
      <p:sp>
        <p:nvSpPr>
          <p:cNvPr id="8" name="TextBox 7">
            <a:extLst>
              <a:ext uri="{FF2B5EF4-FFF2-40B4-BE49-F238E27FC236}">
                <a16:creationId xmlns:a16="http://schemas.microsoft.com/office/drawing/2014/main" id="{74ABC0C5-9804-AA3D-0F14-A95B87098949}"/>
              </a:ext>
            </a:extLst>
          </p:cNvPr>
          <p:cNvSpPr txBox="1"/>
          <p:nvPr/>
        </p:nvSpPr>
        <p:spPr>
          <a:xfrm>
            <a:off x="521185" y="1659118"/>
            <a:ext cx="10941809" cy="3539430"/>
          </a:xfrm>
          <a:prstGeom prst="rect">
            <a:avLst/>
          </a:prstGeom>
          <a:noFill/>
        </p:spPr>
        <p:txBody>
          <a:bodyPr wrap="square" rtlCol="0">
            <a:spAutoFit/>
          </a:bodyPr>
          <a:lstStyle/>
          <a:p>
            <a:r>
              <a:rPr lang="en-US" sz="3200" dirty="0"/>
              <a:t>This initiative implements end-to-end automation for case processing by combining optical character recognition (OCR) with artificial intelligence classification. The system automatically extracts data from various document formats, classifies cases based on content, and assigns appropriate priorities—dramatically reducing manual intervention while improving processing speed</a:t>
            </a:r>
            <a:endParaRPr lang="en-IN"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9C8F5-2145-DEEF-F356-46206CF31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D038C-FF73-339E-268C-262BBED2E9EC}"/>
              </a:ext>
            </a:extLst>
          </p:cNvPr>
          <p:cNvSpPr>
            <a:spLocks noGrp="1"/>
          </p:cNvSpPr>
          <p:nvPr>
            <p:ph type="title"/>
          </p:nvPr>
        </p:nvSpPr>
        <p:spPr/>
        <p:txBody>
          <a:bodyPr>
            <a:normAutofit/>
          </a:bodyPr>
          <a:lstStyle/>
          <a:p>
            <a:r>
              <a:rPr lang="en-US" sz="3600" dirty="0"/>
              <a:t>OCR INTEGRATION TEST</a:t>
            </a:r>
          </a:p>
        </p:txBody>
      </p:sp>
      <p:sp>
        <p:nvSpPr>
          <p:cNvPr id="4" name="Slide Number Placeholder 3">
            <a:extLst>
              <a:ext uri="{FF2B5EF4-FFF2-40B4-BE49-F238E27FC236}">
                <a16:creationId xmlns:a16="http://schemas.microsoft.com/office/drawing/2014/main" id="{A7BAEC1E-B579-65D0-8FF0-FB9B3C9782D3}"/>
              </a:ext>
            </a:extLst>
          </p:cNvPr>
          <p:cNvSpPr>
            <a:spLocks noGrp="1"/>
          </p:cNvSpPr>
          <p:nvPr>
            <p:ph type="sldNum" sz="quarter" idx="4"/>
          </p:nvPr>
        </p:nvSpPr>
        <p:spPr/>
        <p:txBody>
          <a:bodyPr/>
          <a:lstStyle/>
          <a:p>
            <a:fld id="{94599A10-5031-416A-8935-40C3BCBA0AF7}" type="slidenum">
              <a:rPr lang="en-US" smtClean="0"/>
              <a:pPr/>
              <a:t>3</a:t>
            </a:fld>
            <a:endParaRPr lang="en-US" dirty="0"/>
          </a:p>
        </p:txBody>
      </p:sp>
      <p:cxnSp>
        <p:nvCxnSpPr>
          <p:cNvPr id="6" name="Straight Connector 5">
            <a:extLst>
              <a:ext uri="{FF2B5EF4-FFF2-40B4-BE49-F238E27FC236}">
                <a16:creationId xmlns:a16="http://schemas.microsoft.com/office/drawing/2014/main" id="{012C5F86-133B-A755-E799-07891E958224}"/>
              </a:ext>
            </a:extLst>
          </p:cNvPr>
          <p:cNvCxnSpPr>
            <a:cxnSpLocks/>
          </p:cNvCxnSpPr>
          <p:nvPr/>
        </p:nvCxnSpPr>
        <p:spPr>
          <a:xfrm>
            <a:off x="8382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E20C357-7464-A08E-2006-96611DEFD8F7}"/>
              </a:ext>
            </a:extLst>
          </p:cNvPr>
          <p:cNvCxnSpPr>
            <a:cxnSpLocks/>
          </p:cNvCxnSpPr>
          <p:nvPr/>
        </p:nvCxnSpPr>
        <p:spPr>
          <a:xfrm>
            <a:off x="4336211"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pic>
        <p:nvPicPr>
          <p:cNvPr id="14" name="Content Placeholder 13">
            <a:extLst>
              <a:ext uri="{FF2B5EF4-FFF2-40B4-BE49-F238E27FC236}">
                <a16:creationId xmlns:a16="http://schemas.microsoft.com/office/drawing/2014/main" id="{B6C33482-E789-8863-B76A-5D50AFC8BCB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8717"/>
          <a:stretch>
            <a:fillRect/>
          </a:stretch>
        </p:blipFill>
        <p:spPr>
          <a:xfrm>
            <a:off x="838200" y="2009481"/>
            <a:ext cx="10515600" cy="3983625"/>
          </a:xfrm>
          <a:prstGeom prst="rect">
            <a:avLst/>
          </a:prstGeom>
        </p:spPr>
      </p:pic>
    </p:spTree>
    <p:extLst>
      <p:ext uri="{BB962C8B-B14F-4D97-AF65-F5344CB8AC3E}">
        <p14:creationId xmlns:p14="http://schemas.microsoft.com/office/powerpoint/2010/main" val="3511334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017927-F2CB-A19D-E1DB-1848D5C0A0D9}"/>
              </a:ext>
            </a:extLst>
          </p:cNvPr>
          <p:cNvSpPr>
            <a:spLocks noGrp="1"/>
          </p:cNvSpPr>
          <p:nvPr>
            <p:ph type="sldNum" sz="quarter" idx="4"/>
          </p:nvPr>
        </p:nvSpPr>
        <p:spPr/>
        <p:txBody>
          <a:bodyPr/>
          <a:lstStyle/>
          <a:p>
            <a:fld id="{94599A10-5031-416A-8935-40C3BCBA0AF7}" type="slidenum">
              <a:rPr lang="en-US" smtClean="0"/>
              <a:pPr/>
              <a:t>4</a:t>
            </a:fld>
            <a:endParaRPr lang="en-US" dirty="0"/>
          </a:p>
        </p:txBody>
      </p:sp>
      <p:sp>
        <p:nvSpPr>
          <p:cNvPr id="6" name="TextBox 5">
            <a:extLst>
              <a:ext uri="{FF2B5EF4-FFF2-40B4-BE49-F238E27FC236}">
                <a16:creationId xmlns:a16="http://schemas.microsoft.com/office/drawing/2014/main" id="{469EA81D-053B-5E39-2103-EEA4CA41A259}"/>
              </a:ext>
            </a:extLst>
          </p:cNvPr>
          <p:cNvSpPr txBox="1"/>
          <p:nvPr/>
        </p:nvSpPr>
        <p:spPr>
          <a:xfrm>
            <a:off x="673480" y="291006"/>
            <a:ext cx="6844919" cy="646331"/>
          </a:xfrm>
          <a:prstGeom prst="rect">
            <a:avLst/>
          </a:prstGeom>
          <a:noFill/>
        </p:spPr>
        <p:txBody>
          <a:bodyPr wrap="square">
            <a:spAutoFit/>
          </a:bodyPr>
          <a:lstStyle/>
          <a:p>
            <a:r>
              <a:rPr lang="en-US" sz="3600" dirty="0"/>
              <a:t>AI BASED CASE CLASSIFICATION </a:t>
            </a:r>
            <a:endParaRPr lang="en-IN" sz="3600" dirty="0"/>
          </a:p>
        </p:txBody>
      </p:sp>
      <p:sp>
        <p:nvSpPr>
          <p:cNvPr id="8" name="TextBox 7">
            <a:extLst>
              <a:ext uri="{FF2B5EF4-FFF2-40B4-BE49-F238E27FC236}">
                <a16:creationId xmlns:a16="http://schemas.microsoft.com/office/drawing/2014/main" id="{EB9FCFD8-2C8C-6D57-5D4D-7A929B2072BB}"/>
              </a:ext>
            </a:extLst>
          </p:cNvPr>
          <p:cNvSpPr txBox="1"/>
          <p:nvPr/>
        </p:nvSpPr>
        <p:spPr>
          <a:xfrm>
            <a:off x="5098472" y="2687496"/>
            <a:ext cx="6096000" cy="923330"/>
          </a:xfrm>
          <a:prstGeom prst="rect">
            <a:avLst/>
          </a:prstGeom>
          <a:noFill/>
        </p:spPr>
        <p:txBody>
          <a:bodyPr wrap="square">
            <a:spAutoFit/>
          </a:bodyPr>
          <a:lstStyle/>
          <a:p>
            <a:r>
              <a:rPr lang="en-IN" b="1" dirty="0"/>
              <a:t>OpenAI Integration </a:t>
            </a:r>
          </a:p>
          <a:p>
            <a:r>
              <a:rPr lang="en-US" dirty="0"/>
              <a:t>Connected to OpenAI's language models for semantic understanding.</a:t>
            </a:r>
          </a:p>
        </p:txBody>
      </p:sp>
      <p:sp>
        <p:nvSpPr>
          <p:cNvPr id="10" name="TextBox 9">
            <a:extLst>
              <a:ext uri="{FF2B5EF4-FFF2-40B4-BE49-F238E27FC236}">
                <a16:creationId xmlns:a16="http://schemas.microsoft.com/office/drawing/2014/main" id="{B5E8ACFF-752F-6963-0CD7-6A566967DE4E}"/>
              </a:ext>
            </a:extLst>
          </p:cNvPr>
          <p:cNvSpPr txBox="1"/>
          <p:nvPr/>
        </p:nvSpPr>
        <p:spPr>
          <a:xfrm>
            <a:off x="1265381" y="1399769"/>
            <a:ext cx="6428510" cy="646331"/>
          </a:xfrm>
          <a:prstGeom prst="rect">
            <a:avLst/>
          </a:prstGeom>
          <a:noFill/>
        </p:spPr>
        <p:txBody>
          <a:bodyPr wrap="square">
            <a:spAutoFit/>
          </a:bodyPr>
          <a:lstStyle/>
          <a:p>
            <a:pPr>
              <a:buNone/>
            </a:pPr>
            <a:r>
              <a:rPr lang="en-IN" b="1" dirty="0"/>
              <a:t>Prompt Builder Configuration</a:t>
            </a:r>
          </a:p>
          <a:p>
            <a:pPr>
              <a:buNone/>
            </a:pPr>
            <a:r>
              <a:rPr lang="en-US" dirty="0"/>
              <a:t>Designed intelligent prompts using Prompt Builder framework</a:t>
            </a:r>
          </a:p>
        </p:txBody>
      </p:sp>
      <p:sp>
        <p:nvSpPr>
          <p:cNvPr id="12" name="TextBox 11">
            <a:extLst>
              <a:ext uri="{FF2B5EF4-FFF2-40B4-BE49-F238E27FC236}">
                <a16:creationId xmlns:a16="http://schemas.microsoft.com/office/drawing/2014/main" id="{747A5769-454B-9F1A-88A0-F821BDBFB4E6}"/>
              </a:ext>
            </a:extLst>
          </p:cNvPr>
          <p:cNvSpPr txBox="1"/>
          <p:nvPr/>
        </p:nvSpPr>
        <p:spPr>
          <a:xfrm>
            <a:off x="1316180" y="3970605"/>
            <a:ext cx="6146800" cy="646331"/>
          </a:xfrm>
          <a:prstGeom prst="rect">
            <a:avLst/>
          </a:prstGeom>
          <a:noFill/>
        </p:spPr>
        <p:txBody>
          <a:bodyPr wrap="square">
            <a:spAutoFit/>
          </a:bodyPr>
          <a:lstStyle/>
          <a:p>
            <a:pPr>
              <a:buNone/>
            </a:pPr>
            <a:r>
              <a:rPr lang="en-IN" b="1" dirty="0"/>
              <a:t>Context-Aware Analysis</a:t>
            </a:r>
            <a:endParaRPr lang="en-US" b="1" dirty="0"/>
          </a:p>
          <a:p>
            <a:pPr>
              <a:buNone/>
            </a:pPr>
            <a:r>
              <a:rPr lang="fr-FR" dirty="0"/>
              <a:t>Classification </a:t>
            </a:r>
            <a:r>
              <a:rPr lang="fr-FR" dirty="0" err="1"/>
              <a:t>considers</a:t>
            </a:r>
            <a:r>
              <a:rPr lang="fr-FR" dirty="0"/>
              <a:t> document content and </a:t>
            </a:r>
            <a:r>
              <a:rPr lang="fr-FR" dirty="0" err="1"/>
              <a:t>metadata</a:t>
            </a:r>
            <a:r>
              <a:rPr lang="fr-FR" dirty="0"/>
              <a:t>.</a:t>
            </a:r>
            <a:endParaRPr lang="en-US" dirty="0"/>
          </a:p>
        </p:txBody>
      </p:sp>
      <p:sp>
        <p:nvSpPr>
          <p:cNvPr id="14" name="TextBox 13">
            <a:extLst>
              <a:ext uri="{FF2B5EF4-FFF2-40B4-BE49-F238E27FC236}">
                <a16:creationId xmlns:a16="http://schemas.microsoft.com/office/drawing/2014/main" id="{63A9FFB4-7C8D-27F8-939C-356097C0EEF9}"/>
              </a:ext>
            </a:extLst>
          </p:cNvPr>
          <p:cNvSpPr txBox="1"/>
          <p:nvPr/>
        </p:nvSpPr>
        <p:spPr>
          <a:xfrm>
            <a:off x="5098472" y="5111202"/>
            <a:ext cx="6146800" cy="646331"/>
          </a:xfrm>
          <a:prstGeom prst="rect">
            <a:avLst/>
          </a:prstGeom>
          <a:noFill/>
        </p:spPr>
        <p:txBody>
          <a:bodyPr wrap="square">
            <a:spAutoFit/>
          </a:bodyPr>
          <a:lstStyle/>
          <a:p>
            <a:pPr>
              <a:buNone/>
            </a:pPr>
            <a:r>
              <a:rPr lang="en-IN" b="1" dirty="0"/>
              <a:t>Continuous Learning</a:t>
            </a:r>
            <a:endParaRPr lang="en-US" b="1" dirty="0"/>
          </a:p>
          <a:p>
            <a:pPr>
              <a:buNone/>
            </a:pPr>
            <a:r>
              <a:rPr lang="en-US" dirty="0"/>
              <a:t>System improves accuracy with each processed case.</a:t>
            </a:r>
          </a:p>
        </p:txBody>
      </p:sp>
      <p:pic>
        <p:nvPicPr>
          <p:cNvPr id="16" name="Picture 15">
            <a:extLst>
              <a:ext uri="{FF2B5EF4-FFF2-40B4-BE49-F238E27FC236}">
                <a16:creationId xmlns:a16="http://schemas.microsoft.com/office/drawing/2014/main" id="{BF6A3BFD-2928-6642-3A20-6BD4E0A90CF8}"/>
              </a:ext>
            </a:extLst>
          </p:cNvPr>
          <p:cNvPicPr>
            <a:picLocks noChangeAspect="1"/>
          </p:cNvPicPr>
          <p:nvPr/>
        </p:nvPicPr>
        <p:blipFill>
          <a:blip r:embed="rId2"/>
          <a:stretch>
            <a:fillRect/>
          </a:stretch>
        </p:blipFill>
        <p:spPr>
          <a:xfrm>
            <a:off x="582442" y="1466288"/>
            <a:ext cx="571550" cy="708721"/>
          </a:xfrm>
          <a:prstGeom prst="rect">
            <a:avLst/>
          </a:prstGeom>
        </p:spPr>
      </p:pic>
      <p:pic>
        <p:nvPicPr>
          <p:cNvPr id="18" name="Picture 17">
            <a:extLst>
              <a:ext uri="{FF2B5EF4-FFF2-40B4-BE49-F238E27FC236}">
                <a16:creationId xmlns:a16="http://schemas.microsoft.com/office/drawing/2014/main" id="{021EF7D7-6DAB-87EA-D4C9-DB9F94CB7962}"/>
              </a:ext>
            </a:extLst>
          </p:cNvPr>
          <p:cNvPicPr>
            <a:picLocks noChangeAspect="1"/>
          </p:cNvPicPr>
          <p:nvPr/>
        </p:nvPicPr>
        <p:blipFill>
          <a:blip r:embed="rId3"/>
          <a:stretch>
            <a:fillRect/>
          </a:stretch>
        </p:blipFill>
        <p:spPr>
          <a:xfrm>
            <a:off x="4313381" y="2855765"/>
            <a:ext cx="624894" cy="586791"/>
          </a:xfrm>
          <a:prstGeom prst="rect">
            <a:avLst/>
          </a:prstGeom>
        </p:spPr>
      </p:pic>
      <p:pic>
        <p:nvPicPr>
          <p:cNvPr id="20" name="Picture 19">
            <a:extLst>
              <a:ext uri="{FF2B5EF4-FFF2-40B4-BE49-F238E27FC236}">
                <a16:creationId xmlns:a16="http://schemas.microsoft.com/office/drawing/2014/main" id="{A682DF3B-23C7-21A5-2F12-69A457262026}"/>
              </a:ext>
            </a:extLst>
          </p:cNvPr>
          <p:cNvPicPr>
            <a:picLocks noChangeAspect="1"/>
          </p:cNvPicPr>
          <p:nvPr/>
        </p:nvPicPr>
        <p:blipFill>
          <a:blip r:embed="rId4"/>
          <a:stretch>
            <a:fillRect/>
          </a:stretch>
        </p:blipFill>
        <p:spPr>
          <a:xfrm>
            <a:off x="582442" y="4180788"/>
            <a:ext cx="556308" cy="502964"/>
          </a:xfrm>
          <a:prstGeom prst="rect">
            <a:avLst/>
          </a:prstGeom>
        </p:spPr>
      </p:pic>
      <p:pic>
        <p:nvPicPr>
          <p:cNvPr id="22" name="Picture 21">
            <a:extLst>
              <a:ext uri="{FF2B5EF4-FFF2-40B4-BE49-F238E27FC236}">
                <a16:creationId xmlns:a16="http://schemas.microsoft.com/office/drawing/2014/main" id="{08EC8B17-0606-E42B-4793-FDE29206EAE4}"/>
              </a:ext>
            </a:extLst>
          </p:cNvPr>
          <p:cNvPicPr>
            <a:picLocks noChangeAspect="1"/>
          </p:cNvPicPr>
          <p:nvPr/>
        </p:nvPicPr>
        <p:blipFill>
          <a:blip r:embed="rId5"/>
          <a:stretch>
            <a:fillRect/>
          </a:stretch>
        </p:blipFill>
        <p:spPr>
          <a:xfrm>
            <a:off x="4313381" y="5260420"/>
            <a:ext cx="556308" cy="624894"/>
          </a:xfrm>
          <a:prstGeom prst="rect">
            <a:avLst/>
          </a:prstGeom>
        </p:spPr>
      </p:pic>
    </p:spTree>
    <p:extLst>
      <p:ext uri="{BB962C8B-B14F-4D97-AF65-F5344CB8AC3E}">
        <p14:creationId xmlns:p14="http://schemas.microsoft.com/office/powerpoint/2010/main" val="3773077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240F6-4A4F-1568-4FDE-8AEBF7EF17F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020D3B-941D-5101-2A51-BB74E81AAA52}"/>
              </a:ext>
            </a:extLst>
          </p:cNvPr>
          <p:cNvSpPr>
            <a:spLocks noGrp="1"/>
          </p:cNvSpPr>
          <p:nvPr>
            <p:ph type="sldNum" sz="quarter" idx="4"/>
          </p:nvPr>
        </p:nvSpPr>
        <p:spPr/>
        <p:txBody>
          <a:bodyPr/>
          <a:lstStyle/>
          <a:p>
            <a:fld id="{94599A10-5031-416A-8935-40C3BCBA0AF7}" type="slidenum">
              <a:rPr lang="en-US" smtClean="0"/>
              <a:pPr/>
              <a:t>5</a:t>
            </a:fld>
            <a:endParaRPr lang="en-US" dirty="0"/>
          </a:p>
        </p:txBody>
      </p:sp>
      <p:sp>
        <p:nvSpPr>
          <p:cNvPr id="8" name="Title 1">
            <a:extLst>
              <a:ext uri="{FF2B5EF4-FFF2-40B4-BE49-F238E27FC236}">
                <a16:creationId xmlns:a16="http://schemas.microsoft.com/office/drawing/2014/main" id="{2DFCAF8C-3195-8F48-34E9-F709FCC815AE}"/>
              </a:ext>
            </a:extLst>
          </p:cNvPr>
          <p:cNvSpPr>
            <a:spLocks noGrp="1"/>
          </p:cNvSpPr>
          <p:nvPr>
            <p:ph type="title"/>
          </p:nvPr>
        </p:nvSpPr>
        <p:spPr>
          <a:xfrm>
            <a:off x="914400" y="327805"/>
            <a:ext cx="8126083" cy="956891"/>
          </a:xfrm>
        </p:spPr>
        <p:txBody>
          <a:bodyPr>
            <a:noAutofit/>
          </a:bodyPr>
          <a:lstStyle/>
          <a:p>
            <a:r>
              <a:rPr lang="en-US" sz="3600" dirty="0"/>
              <a:t>INTELLIGENT PRIORITY ASSIGNMENT</a:t>
            </a:r>
          </a:p>
        </p:txBody>
      </p:sp>
      <p:cxnSp>
        <p:nvCxnSpPr>
          <p:cNvPr id="9" name="Straight Connector 8">
            <a:extLst>
              <a:ext uri="{FF2B5EF4-FFF2-40B4-BE49-F238E27FC236}">
                <a16:creationId xmlns:a16="http://schemas.microsoft.com/office/drawing/2014/main" id="{DC8CFE02-1512-BEEE-6D1F-F91B7E45585E}"/>
              </a:ext>
            </a:extLst>
          </p:cNvPr>
          <p:cNvCxnSpPr>
            <a:cxnSpLocks/>
          </p:cNvCxnSpPr>
          <p:nvPr/>
        </p:nvCxnSpPr>
        <p:spPr>
          <a:xfrm>
            <a:off x="9144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69E4DB2-05FC-242E-6807-3B995F9F76B5}"/>
              </a:ext>
            </a:extLst>
          </p:cNvPr>
          <p:cNvCxnSpPr>
            <a:cxnSpLocks/>
          </p:cNvCxnSpPr>
          <p:nvPr/>
        </p:nvCxnSpPr>
        <p:spPr>
          <a:xfrm>
            <a:off x="4388507"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392C468-ED43-015C-A71B-CB6A8E79D019}"/>
              </a:ext>
            </a:extLst>
          </p:cNvPr>
          <p:cNvSpPr txBox="1"/>
          <p:nvPr/>
        </p:nvSpPr>
        <p:spPr>
          <a:xfrm>
            <a:off x="6613236" y="1664293"/>
            <a:ext cx="4664364" cy="3970318"/>
          </a:xfrm>
          <a:prstGeom prst="rect">
            <a:avLst/>
          </a:prstGeom>
          <a:noFill/>
        </p:spPr>
        <p:txBody>
          <a:bodyPr wrap="square">
            <a:spAutoFit/>
          </a:bodyPr>
          <a:lstStyle/>
          <a:p>
            <a:r>
              <a:rPr lang="en-US" b="1" dirty="0"/>
              <a:t>Automatic Priority Determination </a:t>
            </a:r>
          </a:p>
          <a:p>
            <a:pPr marL="285750" indent="-285750">
              <a:buFont typeface="Arial" panose="020B0604020202020204" pitchFamily="34" charset="0"/>
              <a:buChar char="•"/>
            </a:pPr>
            <a:r>
              <a:rPr lang="en-US" dirty="0"/>
              <a:t>The system automatically assigns case priorities based on extracted data patterns, urgency indicators, and business rules. Priority levels are determined through analysis of document content, sender information, and historical resolution patterns. </a:t>
            </a:r>
          </a:p>
          <a:p>
            <a:pPr marL="285750" indent="-285750">
              <a:buFont typeface="Arial" panose="020B0604020202020204" pitchFamily="34" charset="0"/>
              <a:buChar char="•"/>
            </a:pPr>
            <a:r>
              <a:rPr lang="en-US" dirty="0"/>
              <a:t>Urgent cases flagged immediately</a:t>
            </a:r>
          </a:p>
          <a:p>
            <a:pPr marL="285750" indent="-285750">
              <a:buFont typeface="Arial" panose="020B0604020202020204" pitchFamily="34" charset="0"/>
              <a:buChar char="•"/>
            </a:pPr>
            <a:r>
              <a:rPr lang="en-US" dirty="0"/>
              <a:t> Standard cases routed to appropriate queues </a:t>
            </a:r>
          </a:p>
          <a:p>
            <a:pPr marL="285750" indent="-285750">
              <a:buFont typeface="Arial" panose="020B0604020202020204" pitchFamily="34" charset="0"/>
              <a:buChar char="•"/>
            </a:pPr>
            <a:r>
              <a:rPr lang="en-US" dirty="0"/>
              <a:t>Low-priority items batched for later processing</a:t>
            </a:r>
            <a:endParaRPr lang="en-US" b="1" dirty="0"/>
          </a:p>
          <a:p>
            <a:endParaRPr lang="en-US" dirty="0"/>
          </a:p>
        </p:txBody>
      </p:sp>
      <p:sp>
        <p:nvSpPr>
          <p:cNvPr id="12" name="TextBox 11">
            <a:extLst>
              <a:ext uri="{FF2B5EF4-FFF2-40B4-BE49-F238E27FC236}">
                <a16:creationId xmlns:a16="http://schemas.microsoft.com/office/drawing/2014/main" id="{DB7E2E71-9B07-44BB-6B56-7AD0EF565C38}"/>
              </a:ext>
            </a:extLst>
          </p:cNvPr>
          <p:cNvSpPr txBox="1"/>
          <p:nvPr/>
        </p:nvSpPr>
        <p:spPr>
          <a:xfrm>
            <a:off x="3048000" y="3246643"/>
            <a:ext cx="6096000" cy="369332"/>
          </a:xfrm>
          <a:prstGeom prst="rect">
            <a:avLst/>
          </a:prstGeom>
          <a:noFill/>
        </p:spPr>
        <p:txBody>
          <a:bodyPr wrap="square">
            <a:spAutoFit/>
          </a:bodyPr>
          <a:lstStyle/>
          <a:p>
            <a:endParaRPr lang="en-IN" dirty="0"/>
          </a:p>
        </p:txBody>
      </p:sp>
      <p:pic>
        <p:nvPicPr>
          <p:cNvPr id="14" name="Picture 13">
            <a:extLst>
              <a:ext uri="{FF2B5EF4-FFF2-40B4-BE49-F238E27FC236}">
                <a16:creationId xmlns:a16="http://schemas.microsoft.com/office/drawing/2014/main" id="{CA7C8E7E-9BDB-1EDC-FAF2-0F5146573B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85451" y="1705795"/>
            <a:ext cx="4664364" cy="4150057"/>
          </a:xfrm>
          <a:prstGeom prst="rect">
            <a:avLst/>
          </a:prstGeom>
        </p:spPr>
      </p:pic>
    </p:spTree>
    <p:extLst>
      <p:ext uri="{BB962C8B-B14F-4D97-AF65-F5344CB8AC3E}">
        <p14:creationId xmlns:p14="http://schemas.microsoft.com/office/powerpoint/2010/main" val="2727521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1B1A9-0E81-8E0D-B484-FA740BC82F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964FB-97B1-A5AB-96F2-C49647F26432}"/>
              </a:ext>
            </a:extLst>
          </p:cNvPr>
          <p:cNvSpPr>
            <a:spLocks noGrp="1"/>
          </p:cNvSpPr>
          <p:nvPr>
            <p:ph type="title"/>
          </p:nvPr>
        </p:nvSpPr>
        <p:spPr/>
        <p:txBody>
          <a:bodyPr>
            <a:normAutofit/>
          </a:bodyPr>
          <a:lstStyle/>
          <a:p>
            <a:r>
              <a:rPr lang="en-US" sz="3600" dirty="0"/>
              <a:t>END TO END AUTOMATION FLOW</a:t>
            </a:r>
          </a:p>
        </p:txBody>
      </p:sp>
      <p:sp>
        <p:nvSpPr>
          <p:cNvPr id="4" name="Slide Number Placeholder 3">
            <a:extLst>
              <a:ext uri="{FF2B5EF4-FFF2-40B4-BE49-F238E27FC236}">
                <a16:creationId xmlns:a16="http://schemas.microsoft.com/office/drawing/2014/main" id="{085F2B3F-D777-31D3-463C-AA1F7797D980}"/>
              </a:ext>
            </a:extLst>
          </p:cNvPr>
          <p:cNvSpPr>
            <a:spLocks noGrp="1"/>
          </p:cNvSpPr>
          <p:nvPr>
            <p:ph type="sldNum" sz="quarter" idx="4"/>
          </p:nvPr>
        </p:nvSpPr>
        <p:spPr/>
        <p:txBody>
          <a:bodyPr/>
          <a:lstStyle/>
          <a:p>
            <a:fld id="{94599A10-5031-416A-8935-40C3BCBA0AF7}" type="slidenum">
              <a:rPr lang="en-US" smtClean="0"/>
              <a:pPr/>
              <a:t>6</a:t>
            </a:fld>
            <a:endParaRPr lang="en-US" dirty="0"/>
          </a:p>
        </p:txBody>
      </p:sp>
      <p:cxnSp>
        <p:nvCxnSpPr>
          <p:cNvPr id="6" name="Straight Connector 5">
            <a:extLst>
              <a:ext uri="{FF2B5EF4-FFF2-40B4-BE49-F238E27FC236}">
                <a16:creationId xmlns:a16="http://schemas.microsoft.com/office/drawing/2014/main" id="{74E5CCCD-0F59-2A0A-58C1-2F41235DD050}"/>
              </a:ext>
            </a:extLst>
          </p:cNvPr>
          <p:cNvCxnSpPr>
            <a:cxnSpLocks/>
          </p:cNvCxnSpPr>
          <p:nvPr/>
        </p:nvCxnSpPr>
        <p:spPr>
          <a:xfrm>
            <a:off x="8382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3DE3910-8DB3-4788-6807-EE6D78866578}"/>
              </a:ext>
            </a:extLst>
          </p:cNvPr>
          <p:cNvCxnSpPr>
            <a:cxnSpLocks/>
          </p:cNvCxnSpPr>
          <p:nvPr/>
        </p:nvCxnSpPr>
        <p:spPr>
          <a:xfrm>
            <a:off x="4336211"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pic>
        <p:nvPicPr>
          <p:cNvPr id="14" name="Content Placeholder 13">
            <a:extLst>
              <a:ext uri="{FF2B5EF4-FFF2-40B4-BE49-F238E27FC236}">
                <a16:creationId xmlns:a16="http://schemas.microsoft.com/office/drawing/2014/main" id="{BCC29311-2A1A-97DB-8860-12516CA78DF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6696" b="6696"/>
          <a:stretch/>
        </p:blipFill>
        <p:spPr>
          <a:xfrm>
            <a:off x="838200" y="2009481"/>
            <a:ext cx="10515600" cy="3983625"/>
          </a:xfrm>
          <a:prstGeom prst="rect">
            <a:avLst/>
          </a:prstGeom>
        </p:spPr>
      </p:pic>
    </p:spTree>
    <p:extLst>
      <p:ext uri="{BB962C8B-B14F-4D97-AF65-F5344CB8AC3E}">
        <p14:creationId xmlns:p14="http://schemas.microsoft.com/office/powerpoint/2010/main" val="436387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0D169-7E87-E608-5D09-53AB3E73A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748A6-14DD-1A91-1D31-24A0ED8680AE}"/>
              </a:ext>
            </a:extLst>
          </p:cNvPr>
          <p:cNvSpPr>
            <a:spLocks noGrp="1"/>
          </p:cNvSpPr>
          <p:nvPr>
            <p:ph type="title"/>
          </p:nvPr>
        </p:nvSpPr>
        <p:spPr/>
        <p:txBody>
          <a:bodyPr>
            <a:normAutofit/>
          </a:bodyPr>
          <a:lstStyle/>
          <a:p>
            <a:r>
              <a:rPr lang="en-US" sz="3600" dirty="0"/>
              <a:t>SYSTEM TESTING RESULTS</a:t>
            </a:r>
          </a:p>
        </p:txBody>
      </p:sp>
      <p:sp>
        <p:nvSpPr>
          <p:cNvPr id="4" name="Slide Number Placeholder 3">
            <a:extLst>
              <a:ext uri="{FF2B5EF4-FFF2-40B4-BE49-F238E27FC236}">
                <a16:creationId xmlns:a16="http://schemas.microsoft.com/office/drawing/2014/main" id="{B5AD652E-0B11-8F7C-CFBA-147D6023B82B}"/>
              </a:ext>
            </a:extLst>
          </p:cNvPr>
          <p:cNvSpPr>
            <a:spLocks noGrp="1"/>
          </p:cNvSpPr>
          <p:nvPr>
            <p:ph type="sldNum" sz="quarter" idx="4"/>
          </p:nvPr>
        </p:nvSpPr>
        <p:spPr/>
        <p:txBody>
          <a:bodyPr/>
          <a:lstStyle/>
          <a:p>
            <a:fld id="{94599A10-5031-416A-8935-40C3BCBA0AF7}" type="slidenum">
              <a:rPr lang="en-US" smtClean="0"/>
              <a:pPr/>
              <a:t>7</a:t>
            </a:fld>
            <a:endParaRPr lang="en-US" dirty="0"/>
          </a:p>
        </p:txBody>
      </p:sp>
      <p:cxnSp>
        <p:nvCxnSpPr>
          <p:cNvPr id="6" name="Straight Connector 5">
            <a:extLst>
              <a:ext uri="{FF2B5EF4-FFF2-40B4-BE49-F238E27FC236}">
                <a16:creationId xmlns:a16="http://schemas.microsoft.com/office/drawing/2014/main" id="{8BBCF6CE-F44E-0E07-0237-92ADF3E338AE}"/>
              </a:ext>
            </a:extLst>
          </p:cNvPr>
          <p:cNvCxnSpPr>
            <a:cxnSpLocks/>
          </p:cNvCxnSpPr>
          <p:nvPr/>
        </p:nvCxnSpPr>
        <p:spPr>
          <a:xfrm>
            <a:off x="8382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EF9FCF2-E784-412B-E807-4620D21617D4}"/>
              </a:ext>
            </a:extLst>
          </p:cNvPr>
          <p:cNvCxnSpPr>
            <a:cxnSpLocks/>
          </p:cNvCxnSpPr>
          <p:nvPr/>
        </p:nvCxnSpPr>
        <p:spPr>
          <a:xfrm>
            <a:off x="4336211"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pic>
        <p:nvPicPr>
          <p:cNvPr id="14" name="Content Placeholder 13">
            <a:extLst>
              <a:ext uri="{FF2B5EF4-FFF2-40B4-BE49-F238E27FC236}">
                <a16:creationId xmlns:a16="http://schemas.microsoft.com/office/drawing/2014/main" id="{FECBA769-2BAB-2475-5F30-DC7FC9FE891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588" t="29090" r="1588"/>
          <a:stretch>
            <a:fillRect/>
          </a:stretch>
        </p:blipFill>
        <p:spPr>
          <a:xfrm>
            <a:off x="810158" y="2274277"/>
            <a:ext cx="10487557" cy="2817301"/>
          </a:xfrm>
          <a:prstGeom prst="rect">
            <a:avLst/>
          </a:prstGeom>
        </p:spPr>
      </p:pic>
    </p:spTree>
    <p:extLst>
      <p:ext uri="{BB962C8B-B14F-4D97-AF65-F5344CB8AC3E}">
        <p14:creationId xmlns:p14="http://schemas.microsoft.com/office/powerpoint/2010/main" val="983500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72630-CB0A-E09F-67CB-6C532941138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902CC8-1598-79E3-ADAD-DD489AAE16E0}"/>
              </a:ext>
            </a:extLst>
          </p:cNvPr>
          <p:cNvSpPr>
            <a:spLocks noGrp="1"/>
          </p:cNvSpPr>
          <p:nvPr>
            <p:ph type="sldNum" sz="quarter" idx="4"/>
          </p:nvPr>
        </p:nvSpPr>
        <p:spPr/>
        <p:txBody>
          <a:bodyPr/>
          <a:lstStyle/>
          <a:p>
            <a:fld id="{94599A10-5031-416A-8935-40C3BCBA0AF7}" type="slidenum">
              <a:rPr lang="en-US" smtClean="0"/>
              <a:pPr/>
              <a:t>8</a:t>
            </a:fld>
            <a:endParaRPr lang="en-US" dirty="0"/>
          </a:p>
        </p:txBody>
      </p:sp>
      <p:sp>
        <p:nvSpPr>
          <p:cNvPr id="6" name="TextBox 5">
            <a:extLst>
              <a:ext uri="{FF2B5EF4-FFF2-40B4-BE49-F238E27FC236}">
                <a16:creationId xmlns:a16="http://schemas.microsoft.com/office/drawing/2014/main" id="{F6A3EF4D-418E-E1F3-FEE8-8C5E4A77663A}"/>
              </a:ext>
            </a:extLst>
          </p:cNvPr>
          <p:cNvSpPr txBox="1"/>
          <p:nvPr/>
        </p:nvSpPr>
        <p:spPr>
          <a:xfrm>
            <a:off x="673480" y="291006"/>
            <a:ext cx="6844919" cy="646331"/>
          </a:xfrm>
          <a:prstGeom prst="rect">
            <a:avLst/>
          </a:prstGeom>
          <a:noFill/>
        </p:spPr>
        <p:txBody>
          <a:bodyPr wrap="square">
            <a:spAutoFit/>
          </a:bodyPr>
          <a:lstStyle/>
          <a:p>
            <a:r>
              <a:rPr lang="en-US" sz="3600" dirty="0">
                <a:solidFill>
                  <a:schemeClr val="tx2">
                    <a:lumMod val="75000"/>
                  </a:schemeClr>
                </a:solidFill>
              </a:rPr>
              <a:t>KEY BENEFITS DELIVERED </a:t>
            </a:r>
            <a:endParaRPr lang="en-IN" sz="3600" dirty="0">
              <a:solidFill>
                <a:schemeClr val="tx2">
                  <a:lumMod val="75000"/>
                </a:schemeClr>
              </a:solidFill>
            </a:endParaRPr>
          </a:p>
        </p:txBody>
      </p:sp>
      <p:sp>
        <p:nvSpPr>
          <p:cNvPr id="8" name="TextBox 7">
            <a:extLst>
              <a:ext uri="{FF2B5EF4-FFF2-40B4-BE49-F238E27FC236}">
                <a16:creationId xmlns:a16="http://schemas.microsoft.com/office/drawing/2014/main" id="{62B2FA77-2EF3-E912-FFCC-55420C383CA1}"/>
              </a:ext>
            </a:extLst>
          </p:cNvPr>
          <p:cNvSpPr txBox="1"/>
          <p:nvPr/>
        </p:nvSpPr>
        <p:spPr>
          <a:xfrm>
            <a:off x="5098472" y="2687496"/>
            <a:ext cx="6096000" cy="923330"/>
          </a:xfrm>
          <a:prstGeom prst="rect">
            <a:avLst/>
          </a:prstGeom>
          <a:noFill/>
        </p:spPr>
        <p:txBody>
          <a:bodyPr wrap="square">
            <a:spAutoFit/>
          </a:bodyPr>
          <a:lstStyle/>
          <a:p>
            <a:r>
              <a:rPr lang="en-IN" b="1" dirty="0"/>
              <a:t>Consistent Quality</a:t>
            </a:r>
          </a:p>
          <a:p>
            <a:r>
              <a:rPr lang="en-US" dirty="0"/>
              <a:t>Eliminated human error in case classification and priority assignment.</a:t>
            </a:r>
          </a:p>
        </p:txBody>
      </p:sp>
      <p:sp>
        <p:nvSpPr>
          <p:cNvPr id="10" name="TextBox 9">
            <a:extLst>
              <a:ext uri="{FF2B5EF4-FFF2-40B4-BE49-F238E27FC236}">
                <a16:creationId xmlns:a16="http://schemas.microsoft.com/office/drawing/2014/main" id="{3F5812B4-82C0-9FBA-3828-412E393560C7}"/>
              </a:ext>
            </a:extLst>
          </p:cNvPr>
          <p:cNvSpPr txBox="1"/>
          <p:nvPr/>
        </p:nvSpPr>
        <p:spPr>
          <a:xfrm>
            <a:off x="1265381" y="1399769"/>
            <a:ext cx="6428510" cy="923330"/>
          </a:xfrm>
          <a:prstGeom prst="rect">
            <a:avLst/>
          </a:prstGeom>
          <a:noFill/>
        </p:spPr>
        <p:txBody>
          <a:bodyPr wrap="square">
            <a:spAutoFit/>
          </a:bodyPr>
          <a:lstStyle/>
          <a:p>
            <a:pPr>
              <a:buNone/>
            </a:pPr>
            <a:r>
              <a:rPr lang="en-IN" b="1" dirty="0"/>
              <a:t>Accelerated Processing</a:t>
            </a:r>
          </a:p>
          <a:p>
            <a:pPr>
              <a:buNone/>
            </a:pPr>
            <a:r>
              <a:rPr lang="en-US" dirty="0"/>
              <a:t>Reduced case processing time through automated workflows and intelligent routing.</a:t>
            </a:r>
            <a:endParaRPr lang="en-IN" b="1" dirty="0"/>
          </a:p>
        </p:txBody>
      </p:sp>
      <p:sp>
        <p:nvSpPr>
          <p:cNvPr id="12" name="TextBox 11">
            <a:extLst>
              <a:ext uri="{FF2B5EF4-FFF2-40B4-BE49-F238E27FC236}">
                <a16:creationId xmlns:a16="http://schemas.microsoft.com/office/drawing/2014/main" id="{EDF182C1-E0CA-594E-7B7A-6985FF0DC06F}"/>
              </a:ext>
            </a:extLst>
          </p:cNvPr>
          <p:cNvSpPr txBox="1"/>
          <p:nvPr/>
        </p:nvSpPr>
        <p:spPr>
          <a:xfrm>
            <a:off x="1316180" y="3970605"/>
            <a:ext cx="6146800" cy="923330"/>
          </a:xfrm>
          <a:prstGeom prst="rect">
            <a:avLst/>
          </a:prstGeom>
          <a:noFill/>
        </p:spPr>
        <p:txBody>
          <a:bodyPr wrap="square">
            <a:spAutoFit/>
          </a:bodyPr>
          <a:lstStyle/>
          <a:p>
            <a:pPr>
              <a:buNone/>
            </a:pPr>
            <a:r>
              <a:rPr lang="en-IN" b="1" dirty="0"/>
              <a:t>Scalable Operations</a:t>
            </a:r>
          </a:p>
          <a:p>
            <a:pPr>
              <a:buNone/>
            </a:pPr>
            <a:r>
              <a:rPr lang="en-US" dirty="0"/>
              <a:t>System handles increased case volumes without proportional staffing increases</a:t>
            </a:r>
            <a:r>
              <a:rPr lang="fr-FR" dirty="0"/>
              <a:t>.</a:t>
            </a:r>
            <a:endParaRPr lang="en-US" dirty="0"/>
          </a:p>
        </p:txBody>
      </p:sp>
      <p:sp>
        <p:nvSpPr>
          <p:cNvPr id="14" name="TextBox 13">
            <a:extLst>
              <a:ext uri="{FF2B5EF4-FFF2-40B4-BE49-F238E27FC236}">
                <a16:creationId xmlns:a16="http://schemas.microsoft.com/office/drawing/2014/main" id="{FAF5BA3A-D5AC-03BB-EBCC-0E876880C1B0}"/>
              </a:ext>
            </a:extLst>
          </p:cNvPr>
          <p:cNvSpPr txBox="1"/>
          <p:nvPr/>
        </p:nvSpPr>
        <p:spPr>
          <a:xfrm>
            <a:off x="5098472" y="5111202"/>
            <a:ext cx="6146800" cy="923330"/>
          </a:xfrm>
          <a:prstGeom prst="rect">
            <a:avLst/>
          </a:prstGeom>
          <a:noFill/>
        </p:spPr>
        <p:txBody>
          <a:bodyPr wrap="square">
            <a:spAutoFit/>
          </a:bodyPr>
          <a:lstStyle/>
          <a:p>
            <a:pPr>
              <a:buNone/>
            </a:pPr>
            <a:r>
              <a:rPr lang="en-IN" b="1" dirty="0"/>
              <a:t>Enhanced Visibility</a:t>
            </a:r>
          </a:p>
          <a:p>
            <a:pPr>
              <a:buNone/>
            </a:pPr>
            <a:r>
              <a:rPr lang="en-US" dirty="0"/>
              <a:t>Real-time tracking and analytics provide insights into processing performance.</a:t>
            </a:r>
          </a:p>
        </p:txBody>
      </p:sp>
      <p:pic>
        <p:nvPicPr>
          <p:cNvPr id="16" name="Picture 15">
            <a:extLst>
              <a:ext uri="{FF2B5EF4-FFF2-40B4-BE49-F238E27FC236}">
                <a16:creationId xmlns:a16="http://schemas.microsoft.com/office/drawing/2014/main" id="{F249E919-81EA-EEB5-7C05-0B58EE7E7919}"/>
              </a:ext>
            </a:extLst>
          </p:cNvPr>
          <p:cNvPicPr>
            <a:picLocks noChangeAspect="1"/>
          </p:cNvPicPr>
          <p:nvPr/>
        </p:nvPicPr>
        <p:blipFill>
          <a:blip r:embed="rId2"/>
          <a:stretch>
            <a:fillRect/>
          </a:stretch>
        </p:blipFill>
        <p:spPr>
          <a:xfrm>
            <a:off x="582442" y="1466288"/>
            <a:ext cx="571550" cy="708721"/>
          </a:xfrm>
          <a:prstGeom prst="rect">
            <a:avLst/>
          </a:prstGeom>
        </p:spPr>
      </p:pic>
      <p:pic>
        <p:nvPicPr>
          <p:cNvPr id="18" name="Picture 17">
            <a:extLst>
              <a:ext uri="{FF2B5EF4-FFF2-40B4-BE49-F238E27FC236}">
                <a16:creationId xmlns:a16="http://schemas.microsoft.com/office/drawing/2014/main" id="{C7578927-B44E-32B1-4BFE-66BE16480E99}"/>
              </a:ext>
            </a:extLst>
          </p:cNvPr>
          <p:cNvPicPr>
            <a:picLocks noChangeAspect="1"/>
          </p:cNvPicPr>
          <p:nvPr/>
        </p:nvPicPr>
        <p:blipFill>
          <a:blip r:embed="rId3"/>
          <a:stretch>
            <a:fillRect/>
          </a:stretch>
        </p:blipFill>
        <p:spPr>
          <a:xfrm>
            <a:off x="4313381" y="2855765"/>
            <a:ext cx="624894" cy="586791"/>
          </a:xfrm>
          <a:prstGeom prst="rect">
            <a:avLst/>
          </a:prstGeom>
        </p:spPr>
      </p:pic>
      <p:pic>
        <p:nvPicPr>
          <p:cNvPr id="20" name="Picture 19">
            <a:extLst>
              <a:ext uri="{FF2B5EF4-FFF2-40B4-BE49-F238E27FC236}">
                <a16:creationId xmlns:a16="http://schemas.microsoft.com/office/drawing/2014/main" id="{A9E55458-E458-DC9D-9F93-09011FF33AE2}"/>
              </a:ext>
            </a:extLst>
          </p:cNvPr>
          <p:cNvPicPr>
            <a:picLocks noChangeAspect="1"/>
          </p:cNvPicPr>
          <p:nvPr/>
        </p:nvPicPr>
        <p:blipFill>
          <a:blip r:embed="rId4"/>
          <a:stretch>
            <a:fillRect/>
          </a:stretch>
        </p:blipFill>
        <p:spPr>
          <a:xfrm>
            <a:off x="582442" y="4180788"/>
            <a:ext cx="556308" cy="502964"/>
          </a:xfrm>
          <a:prstGeom prst="rect">
            <a:avLst/>
          </a:prstGeom>
        </p:spPr>
      </p:pic>
      <p:pic>
        <p:nvPicPr>
          <p:cNvPr id="22" name="Picture 21">
            <a:extLst>
              <a:ext uri="{FF2B5EF4-FFF2-40B4-BE49-F238E27FC236}">
                <a16:creationId xmlns:a16="http://schemas.microsoft.com/office/drawing/2014/main" id="{A9496703-66D5-A38F-6DD3-DAC5DAAFFE2C}"/>
              </a:ext>
            </a:extLst>
          </p:cNvPr>
          <p:cNvPicPr>
            <a:picLocks noChangeAspect="1"/>
          </p:cNvPicPr>
          <p:nvPr/>
        </p:nvPicPr>
        <p:blipFill>
          <a:blip r:embed="rId5"/>
          <a:stretch>
            <a:fillRect/>
          </a:stretch>
        </p:blipFill>
        <p:spPr>
          <a:xfrm>
            <a:off x="4313381" y="5260420"/>
            <a:ext cx="556308" cy="624894"/>
          </a:xfrm>
          <a:prstGeom prst="rect">
            <a:avLst/>
          </a:prstGeom>
        </p:spPr>
      </p:pic>
    </p:spTree>
    <p:extLst>
      <p:ext uri="{BB962C8B-B14F-4D97-AF65-F5344CB8AC3E}">
        <p14:creationId xmlns:p14="http://schemas.microsoft.com/office/powerpoint/2010/main" val="3654649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37926-9894-E88D-5E68-1A05A0CA60D5}"/>
              </a:ext>
            </a:extLst>
          </p:cNvPr>
          <p:cNvSpPr>
            <a:spLocks noGrp="1"/>
          </p:cNvSpPr>
          <p:nvPr>
            <p:ph type="title"/>
          </p:nvPr>
        </p:nvSpPr>
        <p:spPr/>
        <p:txBody>
          <a:bodyPr/>
          <a:lstStyle/>
          <a:p>
            <a:r>
              <a:rPr lang="en-IN" dirty="0"/>
              <a:t>IMPACT ON OPERATIONS</a:t>
            </a:r>
          </a:p>
        </p:txBody>
      </p:sp>
      <p:sp>
        <p:nvSpPr>
          <p:cNvPr id="3" name="Content Placeholder 2">
            <a:extLst>
              <a:ext uri="{FF2B5EF4-FFF2-40B4-BE49-F238E27FC236}">
                <a16:creationId xmlns:a16="http://schemas.microsoft.com/office/drawing/2014/main" id="{E2A2B8BB-DCD9-CC5C-95DE-3BE01742A3B7}"/>
              </a:ext>
            </a:extLst>
          </p:cNvPr>
          <p:cNvSpPr>
            <a:spLocks noGrp="1"/>
          </p:cNvSpPr>
          <p:nvPr>
            <p:ph idx="1"/>
          </p:nvPr>
        </p:nvSpPr>
        <p:spPr/>
        <p:txBody>
          <a:bodyPr/>
          <a:lstStyle/>
          <a:p>
            <a:r>
              <a:rPr lang="en-US" b="1" dirty="0"/>
              <a:t>Time Savings </a:t>
            </a:r>
          </a:p>
          <a:p>
            <a:pPr marL="0" indent="0">
              <a:buNone/>
            </a:pPr>
            <a:r>
              <a:rPr lang="en-US" dirty="0"/>
              <a:t>Processing time per case reduced significantly, allowing teams to handle more cases daily. Staff can now focus on resolution rather than data entry and classification.</a:t>
            </a:r>
          </a:p>
          <a:p>
            <a:r>
              <a:rPr lang="en-US" b="1" dirty="0"/>
              <a:t>Resource Reallocation</a:t>
            </a:r>
          </a:p>
          <a:p>
            <a:pPr marL="0" indent="0">
              <a:buNone/>
            </a:pPr>
            <a:r>
              <a:rPr lang="en-US" dirty="0"/>
              <a:t> Manual effort reduction enables redeployment of resources to higher-value activities. Teams can handle increased volumes without additional headcount.</a:t>
            </a:r>
            <a:endParaRPr lang="en-IN" b="1" dirty="0"/>
          </a:p>
        </p:txBody>
      </p:sp>
      <p:sp>
        <p:nvSpPr>
          <p:cNvPr id="4" name="Slide Number Placeholder 3">
            <a:extLst>
              <a:ext uri="{FF2B5EF4-FFF2-40B4-BE49-F238E27FC236}">
                <a16:creationId xmlns:a16="http://schemas.microsoft.com/office/drawing/2014/main" id="{2B68ADC3-8E5D-7589-4E16-06268CA90778}"/>
              </a:ext>
            </a:extLst>
          </p:cNvPr>
          <p:cNvSpPr>
            <a:spLocks noGrp="1"/>
          </p:cNvSpPr>
          <p:nvPr>
            <p:ph type="sldNum" sz="quarter" idx="4"/>
          </p:nvPr>
        </p:nvSpPr>
        <p:spPr/>
        <p:txBody>
          <a:bodyPr/>
          <a:lstStyle/>
          <a:p>
            <a:fld id="{94599A10-5031-416A-8935-40C3BCBA0AF7}" type="slidenum">
              <a:rPr lang="en-US" smtClean="0"/>
              <a:pPr/>
              <a:t>9</a:t>
            </a:fld>
            <a:endParaRPr lang="en-US" dirty="0"/>
          </a:p>
        </p:txBody>
      </p:sp>
    </p:spTree>
    <p:extLst>
      <p:ext uri="{BB962C8B-B14F-4D97-AF65-F5344CB8AC3E}">
        <p14:creationId xmlns:p14="http://schemas.microsoft.com/office/powerpoint/2010/main" val="957027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5D0C2-4D4E-67D8-F3E4-067D4E5F9C6E}"/>
              </a:ext>
            </a:extLst>
          </p:cNvPr>
          <p:cNvSpPr>
            <a:spLocks noGrp="1"/>
          </p:cNvSpPr>
          <p:nvPr>
            <p:ph type="title"/>
          </p:nvPr>
        </p:nvSpPr>
        <p:spPr/>
        <p:txBody>
          <a:bodyPr/>
          <a:lstStyle/>
          <a:p>
            <a:r>
              <a:rPr lang="en-IN" dirty="0"/>
              <a:t>NEXT MONTH PLAN</a:t>
            </a:r>
          </a:p>
        </p:txBody>
      </p:sp>
      <p:pic>
        <p:nvPicPr>
          <p:cNvPr id="6" name="Content Placeholder 5">
            <a:extLst>
              <a:ext uri="{FF2B5EF4-FFF2-40B4-BE49-F238E27FC236}">
                <a16:creationId xmlns:a16="http://schemas.microsoft.com/office/drawing/2014/main" id="{88BA4332-F924-8C4F-7AF0-171E7B5E8ADA}"/>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aturation sat="300000"/>
                    </a14:imgEffect>
                  </a14:imgLayer>
                </a14:imgProps>
              </a:ext>
              <a:ext uri="{28A0092B-C50C-407E-A947-70E740481C1C}">
                <a14:useLocalDpi xmlns:a14="http://schemas.microsoft.com/office/drawing/2010/main" val="0"/>
              </a:ext>
            </a:extLst>
          </a:blip>
          <a:srcRect t="19640"/>
          <a:stretch>
            <a:fillRect/>
          </a:stretch>
        </p:blipFill>
        <p:spPr>
          <a:xfrm>
            <a:off x="838200" y="2039815"/>
            <a:ext cx="9307224" cy="3505916"/>
          </a:xfrm>
          <a:prstGeom prst="rect">
            <a:avLst/>
          </a:prstGeom>
        </p:spPr>
      </p:pic>
      <p:sp>
        <p:nvSpPr>
          <p:cNvPr id="4" name="Slide Number Placeholder 3">
            <a:extLst>
              <a:ext uri="{FF2B5EF4-FFF2-40B4-BE49-F238E27FC236}">
                <a16:creationId xmlns:a16="http://schemas.microsoft.com/office/drawing/2014/main" id="{C5CB96D4-2909-38E9-B94C-20691B32800C}"/>
              </a:ext>
            </a:extLst>
          </p:cNvPr>
          <p:cNvSpPr>
            <a:spLocks noGrp="1"/>
          </p:cNvSpPr>
          <p:nvPr>
            <p:ph type="sldNum" sz="quarter" idx="4"/>
          </p:nvPr>
        </p:nvSpPr>
        <p:spPr/>
        <p:txBody>
          <a:bodyPr/>
          <a:lstStyle/>
          <a:p>
            <a:fld id="{94599A10-5031-416A-8935-40C3BCBA0AF7}" type="slidenum">
              <a:rPr lang="en-US" smtClean="0"/>
              <a:pPr/>
              <a:t>10</a:t>
            </a:fld>
            <a:endParaRPr lang="en-US" dirty="0"/>
          </a:p>
        </p:txBody>
      </p:sp>
    </p:spTree>
    <p:extLst>
      <p:ext uri="{BB962C8B-B14F-4D97-AF65-F5344CB8AC3E}">
        <p14:creationId xmlns:p14="http://schemas.microsoft.com/office/powerpoint/2010/main" val="264640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72700-31C1-F6E4-4BF3-668D250F42A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765987F-1D74-4646-DC9C-9088DD888B8C}"/>
              </a:ext>
            </a:extLst>
          </p:cNvPr>
          <p:cNvSpPr>
            <a:spLocks noGrp="1"/>
          </p:cNvSpPr>
          <p:nvPr>
            <p:ph type="sldNum" sz="quarter" idx="4"/>
          </p:nvPr>
        </p:nvSpPr>
        <p:spPr/>
        <p:txBody>
          <a:bodyPr/>
          <a:lstStyle/>
          <a:p>
            <a:fld id="{94599A10-5031-416A-8935-40C3BCBA0AF7}" type="slidenum">
              <a:rPr lang="en-US" smtClean="0"/>
              <a:pPr/>
              <a:t>11</a:t>
            </a:fld>
            <a:endParaRPr lang="en-US" dirty="0"/>
          </a:p>
        </p:txBody>
      </p:sp>
      <p:sp>
        <p:nvSpPr>
          <p:cNvPr id="8" name="Title 1">
            <a:extLst>
              <a:ext uri="{FF2B5EF4-FFF2-40B4-BE49-F238E27FC236}">
                <a16:creationId xmlns:a16="http://schemas.microsoft.com/office/drawing/2014/main" id="{905C7683-34CE-BE62-BCAF-70C3F16F0E1A}"/>
              </a:ext>
            </a:extLst>
          </p:cNvPr>
          <p:cNvSpPr>
            <a:spLocks noGrp="1"/>
          </p:cNvSpPr>
          <p:nvPr>
            <p:ph type="title"/>
          </p:nvPr>
        </p:nvSpPr>
        <p:spPr>
          <a:xfrm>
            <a:off x="730622" y="673962"/>
            <a:ext cx="3706907" cy="664682"/>
          </a:xfrm>
        </p:spPr>
        <p:txBody>
          <a:bodyPr>
            <a:noAutofit/>
          </a:bodyPr>
          <a:lstStyle/>
          <a:p>
            <a:pPr rtl="0">
              <a:spcBef>
                <a:spcPts val="0"/>
              </a:spcBef>
              <a:spcAft>
                <a:spcPts val="0"/>
              </a:spcAft>
            </a:pPr>
            <a:r>
              <a:rPr lang="en-US" sz="4800" i="0" u="none" strike="noStrike" dirty="0">
                <a:solidFill>
                  <a:srgbClr val="A32837"/>
                </a:solidFill>
                <a:effectLst/>
              </a:rPr>
              <a:t>Thank You!</a:t>
            </a:r>
            <a:endParaRPr lang="en-US" sz="4800" dirty="0"/>
          </a:p>
        </p:txBody>
      </p:sp>
      <p:cxnSp>
        <p:nvCxnSpPr>
          <p:cNvPr id="9" name="Straight Connector 8">
            <a:extLst>
              <a:ext uri="{FF2B5EF4-FFF2-40B4-BE49-F238E27FC236}">
                <a16:creationId xmlns:a16="http://schemas.microsoft.com/office/drawing/2014/main" id="{21F718C2-37F5-1210-38ED-D70A376E8BE5}"/>
              </a:ext>
            </a:extLst>
          </p:cNvPr>
          <p:cNvCxnSpPr>
            <a:cxnSpLocks/>
          </p:cNvCxnSpPr>
          <p:nvPr/>
        </p:nvCxnSpPr>
        <p:spPr>
          <a:xfrm>
            <a:off x="8382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713CB39-7A1C-41DE-AC01-301A5E16497D}"/>
              </a:ext>
            </a:extLst>
          </p:cNvPr>
          <p:cNvCxnSpPr>
            <a:cxnSpLocks/>
          </p:cNvCxnSpPr>
          <p:nvPr/>
        </p:nvCxnSpPr>
        <p:spPr>
          <a:xfrm>
            <a:off x="4312307"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B3DA488-75F2-9186-1D02-A747C47DB035}"/>
              </a:ext>
            </a:extLst>
          </p:cNvPr>
          <p:cNvSpPr>
            <a:spLocks noGrp="1"/>
          </p:cNvSpPr>
          <p:nvPr>
            <p:ph idx="1"/>
          </p:nvPr>
        </p:nvSpPr>
        <p:spPr>
          <a:xfrm>
            <a:off x="838200" y="1825625"/>
            <a:ext cx="10515600" cy="4351338"/>
          </a:xfrm>
        </p:spPr>
        <p:txBody>
          <a:bodyPr>
            <a:normAutofit/>
          </a:bodyPr>
          <a:lstStyle/>
          <a:p>
            <a:pPr marL="0" indent="0" rtl="0">
              <a:spcBef>
                <a:spcPts val="0"/>
              </a:spcBef>
              <a:spcAft>
                <a:spcPts val="0"/>
              </a:spcAft>
              <a:buNone/>
            </a:pPr>
            <a:r>
              <a:rPr lang="en-US" sz="3200" b="0" i="0" u="none" strike="noStrike" dirty="0">
                <a:solidFill>
                  <a:srgbClr val="000000"/>
                </a:solidFill>
                <a:effectLst/>
                <a:latin typeface="+mj-lt"/>
              </a:rPr>
              <a:t>For any query/suggestions pls mail us at </a:t>
            </a:r>
            <a:endParaRPr lang="en-US" sz="3200" b="0" dirty="0">
              <a:effectLst/>
              <a:latin typeface="+mj-lt"/>
            </a:endParaRPr>
          </a:p>
          <a:p>
            <a:pPr marL="0" indent="0" rtl="0">
              <a:spcBef>
                <a:spcPts val="0"/>
              </a:spcBef>
              <a:spcAft>
                <a:spcPts val="0"/>
              </a:spcAft>
              <a:buNone/>
            </a:pPr>
            <a:r>
              <a:rPr lang="en-US" sz="3200" b="1" i="0" u="sng" strike="noStrike" dirty="0">
                <a:solidFill>
                  <a:srgbClr val="000000"/>
                </a:solidFill>
                <a:effectLst/>
                <a:latin typeface="+mj-lt"/>
                <a:hlinkClick r:id="rId2"/>
              </a:rPr>
              <a:t>en22it301072@medicaps.ac.in</a:t>
            </a:r>
            <a:endParaRPr lang="en-US" sz="3200" b="0" dirty="0">
              <a:effectLst/>
              <a:latin typeface="+mj-lt"/>
            </a:endParaRPr>
          </a:p>
          <a:p>
            <a:pPr marL="0" indent="0">
              <a:buNone/>
            </a:pPr>
            <a:br>
              <a:rPr lang="en-US" sz="4000" dirty="0">
                <a:latin typeface="+mj-lt"/>
              </a:rPr>
            </a:br>
            <a:endParaRPr lang="en-US" sz="4000" dirty="0">
              <a:latin typeface="+mj-lt"/>
            </a:endParaRPr>
          </a:p>
          <a:p>
            <a:pPr marL="0" indent="0">
              <a:buNone/>
            </a:pPr>
            <a:endParaRPr lang="en-US" sz="2500" dirty="0"/>
          </a:p>
          <a:p>
            <a:pPr marL="0" indent="0">
              <a:buNone/>
            </a:pPr>
            <a:endParaRPr lang="en-US" sz="2500" dirty="0"/>
          </a:p>
          <a:p>
            <a:pPr marL="0" indent="0">
              <a:buNone/>
            </a:pPr>
            <a:endParaRPr lang="en-US" sz="2500" dirty="0"/>
          </a:p>
          <a:p>
            <a:pPr marL="0" indent="0">
              <a:buNone/>
            </a:pPr>
            <a:endParaRPr lang="en-US" sz="2500" dirty="0"/>
          </a:p>
        </p:txBody>
      </p:sp>
    </p:spTree>
    <p:extLst>
      <p:ext uri="{BB962C8B-B14F-4D97-AF65-F5344CB8AC3E}">
        <p14:creationId xmlns:p14="http://schemas.microsoft.com/office/powerpoint/2010/main" val="1243924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603917"/>
      </p:ext>
    </p:extLst>
  </p:cSld>
  <p:clrMapOvr>
    <a:masterClrMapping/>
  </p:clrMapOvr>
</p:sld>
</file>

<file path=ppt/theme/theme1.xml><?xml version="1.0" encoding="utf-8"?>
<a:theme xmlns:a="http://schemas.openxmlformats.org/drawingml/2006/main" name="Office Theme">
  <a:themeElements>
    <a:clrScheme name="Custom 5">
      <a:dk1>
        <a:srgbClr val="000000"/>
      </a:dk1>
      <a:lt1>
        <a:sysClr val="window" lastClr="FFFFFF"/>
      </a:lt1>
      <a:dk2>
        <a:srgbClr val="293786"/>
      </a:dk2>
      <a:lt2>
        <a:srgbClr val="A21D2E"/>
      </a:lt2>
      <a:accent1>
        <a:srgbClr val="A6AFE4"/>
      </a:accent1>
      <a:accent2>
        <a:srgbClr val="F4BEC4"/>
      </a:accent2>
      <a:accent3>
        <a:srgbClr val="A5A5A5"/>
      </a:accent3>
      <a:accent4>
        <a:srgbClr val="FFC000"/>
      </a:accent4>
      <a:accent5>
        <a:srgbClr val="5B9BD5"/>
      </a:accent5>
      <a:accent6>
        <a:srgbClr val="70AD47"/>
      </a:accent6>
      <a:hlink>
        <a:srgbClr val="0563C1"/>
      </a:hlink>
      <a:folHlink>
        <a:srgbClr val="954F72"/>
      </a:folHlink>
    </a:clrScheme>
    <a:fontScheme name="Medicaps">
      <a:majorFont>
        <a:latin typeface="Metropolis Semi Bold"/>
        <a:ea typeface=""/>
        <a:cs typeface=""/>
      </a:majorFont>
      <a:minorFont>
        <a:latin typeface="Metropoli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617A8B78-F622-4C57-A45F-FE0E80141807}" vid="{1E4079A0-7BD4-493D-B6C3-8779881B8C2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template (1)</Template>
  <TotalTime>126</TotalTime>
  <Words>331</Words>
  <Application>Microsoft Office PowerPoint</Application>
  <PresentationFormat>Widescreen</PresentationFormat>
  <Paragraphs>65</Paragraphs>
  <Slides>12</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Inter</vt:lpstr>
      <vt:lpstr>Inter Bold</vt:lpstr>
      <vt:lpstr>Metropolis</vt:lpstr>
      <vt:lpstr>Metropolis Semi Bold</vt:lpstr>
      <vt:lpstr>Zilla Slab</vt:lpstr>
      <vt:lpstr>Office Theme</vt:lpstr>
      <vt:lpstr> </vt:lpstr>
      <vt:lpstr>PowerPoint Presentation</vt:lpstr>
      <vt:lpstr>OCR INTEGRATION TEST</vt:lpstr>
      <vt:lpstr>PowerPoint Presentation</vt:lpstr>
      <vt:lpstr>INTELLIGENT PRIORITY ASSIGNMENT</vt:lpstr>
      <vt:lpstr>END TO END AUTOMATION FLOW</vt:lpstr>
      <vt:lpstr>SYSTEM TESTING RESULTS</vt:lpstr>
      <vt:lpstr>PowerPoint Presentation</vt:lpstr>
      <vt:lpstr>IMPACT ON OPERATIONS</vt:lpstr>
      <vt:lpstr>NEXT MONTH PLAN</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Nimisha Malleri</dc:creator>
  <cp:lastModifiedBy>priyal bahety</cp:lastModifiedBy>
  <cp:revision>6</cp:revision>
  <dcterms:created xsi:type="dcterms:W3CDTF">2026-02-28T16:34:02Z</dcterms:created>
  <dcterms:modified xsi:type="dcterms:W3CDTF">2026-05-07T08:14:09Z</dcterms:modified>
</cp:coreProperties>
</file>